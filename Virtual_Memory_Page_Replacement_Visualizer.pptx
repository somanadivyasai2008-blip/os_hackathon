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02fe51ff-f9e6-6da7-aac5-229a8efcda98}">
          <p14:sldIdLst>
            <p14:sldId id="256"/>
          </p14:sldIdLst>
        </p14:section>
        <p14:section name="The problem" id="{be60166d-769c-cb66-46ab-46456b57d822}">
          <p14:sldIdLst>
            <p14:sldId id="257"/>
          </p14:sldIdLst>
        </p14:section>
        <p14:section name="Goals and course mapping" id="{2b442849-a9f5-9337-eb93-c9684cccaab5}">
          <p14:sldIdLst>
            <p14:sldId id="258"/>
          </p14:sldIdLst>
        </p14:section>
        <p14:section name="System design" id="{03bf29ef-0261-fbe3-1dd5-e8bb0269c3ec}">
          <p14:sldIdLst>
            <p14:sldId id="259"/>
          </p14:sldIdLst>
        </p14:section>
        <p14:section name="Core ideas" id="{ed30a6db-da79-c08a-274d-fc95de0da188}">
          <p14:sldIdLst>
            <p14:sldId id="260"/>
          </p14:sldIdLst>
        </p14:section>
        <p14:section name="Four replacement rules" id="{457999a7-e684-0266-e8c9-2f7a73c0b568}">
          <p14:sldIdLst>
            <p14:sldId id="261"/>
          </p14:sldIdLst>
        </p14:section>
        <p14:section name="The simulator" id="{aa44801c-7add-8af9-dcea-149923ab0bc9}">
          <p14:sldIdLst>
            <p14:sldId id="262"/>
          </p14:sldIdLst>
        </p14:section>
        <p14:section name="Implementation" id="{f2dc8575-3ddc-8405-862a-5ba9326fe2f3}">
          <p14:sldIdLst>
            <p14:sldId id="263"/>
          </p14:sldIdLst>
        </p14:section>
        <p14:section name="Test plan" id="{a1f7c470-70de-db33-78a1-94850cf76ff7}">
          <p14:sldIdLst>
            <p14:sldId id="264"/>
          </p14:sldIdLst>
        </p14:section>
        <p14:section name="Results: textbook string" id="{76a5effe-0eb9-1c43-ea18-ee09abb5c302}">
          <p14:sldIdLst>
            <p14:sldId id="265"/>
          </p14:sldIdLst>
        </p14:section>
        <p14:section name="Belady's anomaly" id="{f32e6819-ed01-60bc-dfcf-3c7aa392c4e6}">
          <p14:sldIdLst>
            <p14:sldId id="266"/>
          </p14:sldIdLst>
        </p14:section>
        <p14:section name="Impact and limits" id="{6990a495-4492-ec9a-ac58-0e2eb3ce83b3}">
          <p14:sldIdLst>
            <p14:sldId id="267"/>
          </p14:sldIdLst>
        </p14:section>
        <p14:section name="Team and roles" id="{a542b60b-c824-3f3a-266f-825020c969c5}">
          <p14:sldIdLst>
            <p14:sldId id="268"/>
          </p14:sldIdLst>
        </p14:section>
        <p14:section name="Conclusion" id="{45ad25b7-8ea2-25de-8dfb-5f8ca3e8e7cf}">
          <p14:sldIdLst>
            <p14:sldId id="269"/>
          </p14:sldIdLst>
        </p14:section>
        <p14:section name="References" id="{7a9f7ebe-57a0-0eee-1bbc-25dbd0a0d0e0}">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49"/>
                </a:solidFill>
                <a:latin typeface="Arial"/>
              </a:defRPr>
            </a:pPr>
            <a:r>
              <a:rPr sz="1400" b="0" i="0" u="none" strike="noStrike">
                <a:solidFill>
                  <a:srgbClr val="1B2A49"/>
                </a:solidFill>
                <a:latin typeface="Arial"/>
              </a:rPr>
              <a:t>Page faults (lower is better)</a:t>
            </a:r>
          </a:p>
        </c:rich>
      </c:tx>
      <c:layout/>
      <c:overlay val="0"/>
    </c:title>
    <c:autoTitleDeleted val="0"/>
    <c:plotArea>
      <c:layout/>
      <c:barChart>
        <c:barDir val="col"/>
        <c:grouping val="clustered"/>
        <c:varyColors val="0"/>
        <c:ser>
          <c:idx val="0"/>
          <c:order val="0"/>
          <c:tx>
            <c:strRef>
              <c:f>Sheet1!$B$1</c:f>
              <c:strCache>
                <c:ptCount val="1"/>
                <c:pt idx="0">
                  <c:v>Page faults</c:v>
                </c:pt>
              </c:strCache>
            </c:strRef>
          </c:tx>
          <c:spPr>
            <a:solidFill>
              <a:srgbClr val="D64545"/>
            </a:solidFill>
            <a:effectLst/>
          </c:spPr>
          <c:invertIfNegative val="0"/>
          <c:dLbls>
            <c:numFmt formatCode="#,##0" sourceLinked="0"/>
            <c:txPr>
              <a:bodyPr/>
              <a:lstStyle/>
              <a:p>
                <a:pPr>
                  <a:defRPr b="0" i="0" strike="noStrike" sz="1400" u="none">
                    <a:solidFill>
                      <a:srgbClr val="1B2A49"/>
                    </a:solidFill>
                    <a:latin typeface="+mn-lt"/>
                  </a:defRPr>
                </a:pPr>
              </a:p>
            </c:txPr>
            <c:showLegendKey val="0"/>
            <c:showVal val="1"/>
            <c:showCatName val="0"/>
            <c:showSerName val="0"/>
            <c:showPercent val="0"/>
            <c:showBubbleSize val="0"/>
            <c:showLeaderLines val="0"/>
          </c:dLbls>
          <c:dPt>
            <c:idx val="0"/>
            <c:invertIfNegative val="0"/>
            <c:bubble3D val="0"/>
            <c:spPr>
              <a:solidFill>
                <a:srgbClr val="D64545"/>
              </a:solidFill>
              <a:effectLst/>
            </c:spPr>
          </c:dPt>
          <c:dPt>
            <c:idx val="1"/>
            <c:invertIfNegative val="0"/>
            <c:bubble3D val="0"/>
            <c:spPr>
              <a:solidFill>
                <a:srgbClr val="C98A1B"/>
              </a:solidFill>
              <a:effectLst/>
            </c:spPr>
          </c:dPt>
          <c:dPt>
            <c:idx val="2"/>
            <c:invertIfNegative val="0"/>
            <c:bubble3D val="0"/>
            <c:spPr>
              <a:solidFill>
                <a:srgbClr val="1E8E4E"/>
              </a:solidFill>
              <a:effectLst/>
            </c:spPr>
          </c:dPt>
          <c:dPt>
            <c:idx val="3"/>
            <c:invertIfNegative val="0"/>
            <c:bubble3D val="0"/>
            <c:spPr>
              <a:solidFill>
                <a:srgbClr val="0F8B8D"/>
              </a:solidFill>
              <a:effectLst/>
            </c:spPr>
          </c:dPt>
          <c:cat>
            <c:multiLvlStrRef>
              <c:f>Sheet1!$A$2:$A$5</c:f>
              <c:multiLvlStrCache>
                <c:ptCount val="4"/>
                <c:lvl>
                  <c:pt idx="0">
                    <c:v>FIFO</c:v>
                  </c:pt>
                  <c:pt idx="1">
                    <c:v>LRU</c:v>
                  </c:pt>
                  <c:pt idx="2">
                    <c:v>Optimal</c:v>
                  </c:pt>
                  <c:pt idx="3">
                    <c:v>Clock</c:v>
                  </c:pt>
                </c:lvl>
              </c:multiLvlStrCache>
            </c:multiLvlStrRef>
          </c:cat>
          <c:val>
            <c:numRef>
              <c:f>Sheet1!$B$2:$B$5</c:f>
              <c:numCache>
                <c:formatCode>General</c:formatCode>
                <c:ptCount val="4"/>
                <c:pt idx="0">
                  <c:v>15</c:v>
                </c:pt>
                <c:pt idx="1">
                  <c:v>12</c:v>
                </c:pt>
                <c:pt idx="2">
                  <c:v>9</c:v>
                </c:pt>
                <c:pt idx="3">
                  <c:v>14</c:v>
                </c:pt>
              </c:numCache>
            </c:numRef>
          </c:val>
        </c:ser>
        <c:dLbls>
          <c:numFmt formatCode="#,##0" sourceLinked="0"/>
          <c:txPr>
            <a:bodyPr/>
            <a:lstStyle/>
            <a:p>
              <a:pPr>
                <a:defRPr b="0" i="0" strike="noStrike" sz="1400" u="none">
                  <a:solidFill>
                    <a:srgbClr val="1B2A49"/>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2A49"/>
                </a:solidFill>
                <a:latin typeface="+mn-lt"/>
              </a:defRPr>
            </a:pPr>
            <a:endParaRPr lang="en-US"/>
          </a:p>
        </c:txPr>
        <c:crossAx val="2094734552"/>
        <c:crosses val="autoZero"/>
        <c:auto val="1"/>
        <c:lblAlgn val="ctr"/>
        <c:noMultiLvlLbl val="1"/>
      </c:catAx>
      <c:valAx>
        <c:axId val="2094734552"/>
        <c:scaling>
          <c:orientation val="minMax"/>
          <c:max val="18"/>
          <c:min val="0"/>
        </c:scaling>
        <c:delete val="0"/>
        <c:axPos val="l"/>
        <c:majorGridlines>
          <c:spPr>
            <a:ln w="6350" cap="flat">
              <a:solidFill>
                <a:srgbClr val="D3DB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D"/>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49"/>
                </a:solidFill>
                <a:latin typeface="Arial"/>
              </a:defRPr>
            </a:pPr>
            <a:r>
              <a:rPr sz="1400" b="0" i="0" u="none" strike="noStrike">
                <a:solidFill>
                  <a:srgbClr val="1B2A49"/>
                </a:solidFill>
                <a:latin typeface="Arial"/>
              </a:rPr>
              <a:t>Page faults at 3 vs 4 frames</a:t>
            </a:r>
          </a:p>
        </c:rich>
      </c:tx>
      <c:layout/>
      <c:overlay val="0"/>
    </c:title>
    <c:autoTitleDeleted val="0"/>
    <c:plotArea>
      <c:layout/>
      <c:barChart>
        <c:barDir val="col"/>
        <c:grouping val="clustered"/>
        <c:varyColors val="0"/>
        <c:ser>
          <c:idx val="0"/>
          <c:order val="0"/>
          <c:tx>
            <c:strRef>
              <c:f>Sheet1!$B$1</c:f>
              <c:strCache>
                <c:ptCount val="1"/>
                <c:pt idx="0">
                  <c:v>3 frames</c:v>
                </c:pt>
              </c:strCache>
            </c:strRef>
          </c:tx>
          <c:spPr>
            <a:solidFill>
              <a:srgbClr val="5B6B7D"/>
            </a:solidFill>
            <a:effectLst/>
          </c:spPr>
          <c:invertIfNegative val="0"/>
          <c:dLbls>
            <c:numFmt formatCode="#,##0" sourceLinked="0"/>
            <c:txPr>
              <a:bodyPr/>
              <a:lstStyle/>
              <a:p>
                <a:pPr>
                  <a:defRPr b="0" i="0" strike="noStrike" sz="1300" u="none">
                    <a:solidFill>
                      <a:srgbClr val="1B2A49"/>
                    </a:solidFill>
                    <a:latin typeface="+mn-lt"/>
                  </a:defRPr>
                </a:pPr>
              </a:p>
            </c:txPr>
            <c:showLegendKey val="0"/>
            <c:showVal val="1"/>
            <c:showCatName val="0"/>
            <c:showSerName val="0"/>
            <c:showPercent val="0"/>
            <c:showBubbleSize val="0"/>
            <c:showLeaderLines val="0"/>
          </c:dLbls>
          <c:cat>
            <c:multiLvlStrRef>
              <c:f>Sheet1!$A$2:$A$5</c:f>
              <c:multiLvlStrCache>
                <c:ptCount val="4"/>
                <c:lvl>
                  <c:pt idx="0">
                    <c:v>FIFO</c:v>
                  </c:pt>
                  <c:pt idx="1">
                    <c:v>LRU</c:v>
                  </c:pt>
                  <c:pt idx="2">
                    <c:v>Optimal</c:v>
                  </c:pt>
                  <c:pt idx="3">
                    <c:v>Clock</c:v>
                  </c:pt>
                </c:lvl>
              </c:multiLvlStrCache>
            </c:multiLvlStrRef>
          </c:cat>
          <c:val>
            <c:numRef>
              <c:f>Sheet1!$B$2:$B$5</c:f>
              <c:numCache>
                <c:formatCode>General</c:formatCode>
                <c:ptCount val="4"/>
                <c:pt idx="0">
                  <c:v>9</c:v>
                </c:pt>
                <c:pt idx="1">
                  <c:v>10</c:v>
                </c:pt>
                <c:pt idx="2">
                  <c:v>7</c:v>
                </c:pt>
                <c:pt idx="3">
                  <c:v>9</c:v>
                </c:pt>
              </c:numCache>
            </c:numRef>
          </c:val>
        </c:ser>
        <c:ser>
          <c:idx val="1"/>
          <c:order val="1"/>
          <c:tx>
            <c:strRef>
              <c:f>Sheet1!$C$1</c:f>
              <c:strCache>
                <c:ptCount val="1"/>
                <c:pt idx="0">
                  <c:v>4 frames</c:v>
                </c:pt>
              </c:strCache>
            </c:strRef>
          </c:tx>
          <c:spPr>
            <a:solidFill>
              <a:srgbClr val="0F8B8D"/>
            </a:solidFill>
            <a:effectLst/>
          </c:spPr>
          <c:invertIfNegative val="0"/>
          <c:dLbls>
            <c:numFmt formatCode="#,##0" sourceLinked="0"/>
            <c:txPr>
              <a:bodyPr/>
              <a:lstStyle/>
              <a:p>
                <a:pPr>
                  <a:defRPr b="0" i="0" strike="noStrike" sz="1300" u="none">
                    <a:solidFill>
                      <a:srgbClr val="1B2A49"/>
                    </a:solidFill>
                    <a:latin typeface="+mn-lt"/>
                  </a:defRPr>
                </a:pPr>
              </a:p>
            </c:txPr>
            <c:showLegendKey val="0"/>
            <c:showVal val="1"/>
            <c:showCatName val="0"/>
            <c:showSerName val="0"/>
            <c:showPercent val="0"/>
            <c:showBubbleSize val="0"/>
            <c:showLeaderLines val="0"/>
          </c:dLbls>
          <c:cat>
            <c:multiLvlStrRef>
              <c:f>Sheet1!$A$2:$A$5</c:f>
              <c:multiLvlStrCache>
                <c:ptCount val="4"/>
                <c:lvl>
                  <c:pt idx="0">
                    <c:v>FIFO</c:v>
                  </c:pt>
                  <c:pt idx="1">
                    <c:v>LRU</c:v>
                  </c:pt>
                  <c:pt idx="2">
                    <c:v>Optimal</c:v>
                  </c:pt>
                  <c:pt idx="3">
                    <c:v>Clock</c:v>
                  </c:pt>
                </c:lvl>
              </c:multiLvlStrCache>
            </c:multiLvlStrRef>
          </c:cat>
          <c:val>
            <c:numRef>
              <c:f>Sheet1!$C$2:$C$5</c:f>
              <c:numCache>
                <c:formatCode>General</c:formatCode>
                <c:ptCount val="4"/>
                <c:pt idx="0">
                  <c:v>10</c:v>
                </c:pt>
                <c:pt idx="1">
                  <c:v>8</c:v>
                </c:pt>
                <c:pt idx="2">
                  <c:v>6</c:v>
                </c:pt>
                <c:pt idx="3">
                  <c:v>10</c:v>
                </c:pt>
              </c:numCache>
            </c:numRef>
          </c:val>
        </c:ser>
        <c:dLbls>
          <c:numFmt formatCode="#,##0" sourceLinked="0"/>
          <c:txPr>
            <a:bodyPr/>
            <a:lstStyle/>
            <a:p>
              <a:pPr>
                <a:defRPr b="0" i="0" strike="noStrike" sz="1300" u="none">
                  <a:solidFill>
                    <a:srgbClr val="1B2A49"/>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2A49"/>
                </a:solidFill>
                <a:latin typeface="+mn-lt"/>
              </a:defRPr>
            </a:pPr>
            <a:endParaRPr lang="en-US"/>
          </a:p>
        </c:txPr>
        <c:crossAx val="2094734552"/>
        <c:crosses val="autoZero"/>
        <c:auto val="1"/>
        <c:lblAlgn val="ctr"/>
        <c:noMultiLvlLbl val="1"/>
      </c:catAx>
      <c:valAx>
        <c:axId val="2094734552"/>
        <c:scaling>
          <c:orientation val="minMax"/>
          <c:max val="12"/>
          <c:min val="0"/>
        </c:scaling>
        <c:delete val="0"/>
        <c:axPos val="l"/>
        <c:majorGridlines>
          <c:spPr>
            <a:ln w="6350" cap="flat">
              <a:solidFill>
                <a:srgbClr val="D3DB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D"/>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2A49"/>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an offline web simulator that compares four page replacement algorithms step by step. Mention it is an educational model, not a real kernel.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is small, programs are big. When a needed page is not in a frame, the OS must load it and may have to remove another page. Choosing the wrong page causes extra faults. The three numbers are observed results from our simulator on the textbook string.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primary course outcome is CO4 (memory management). The handout lists virtual memory, page tables, page faults and demand paging. It does not name the four replacement algorithms; we chose them to demonstrate page replacement and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The engine is pure JavaScript with no DOM access, so it can be tested in Node. The UI only reads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fixed-size block of a program. Frame: fixed-size slot of physical memory. Hit: page already in a frame. Fault: not resident, must be loaded. Eviction: removing a page to make room. Stress that our model counts only resident-page misses; a real kernel also handles TLB misses, protection faults and disk 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Rules and trade-offs. Fault counts are observed on the textbook string with 3 frames. Optimal needs future knowledge so it is only a benchmark. Clock approximates LRU with one bit per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index.html and click Load example. Show the frame boxes, step table and the explanation line. Replace the placeholder box with a real screenshot taken from the final index.html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app is one HTML file of about 15 KB with no installs, no framework and no backend. It runs offline in any browser. Node.js is used only to run the test scripts.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ran every case in Node against the engine code taken from index.html. Then 3,000 random inputs times 4 algorithms (12,000 runs) checked trace rules: one record per reference, no duplicate pages, no eviction while a frame is free, hits never evict, and Optimal never worse than the others. Zero violations were observed. Browser button testing was done in a simulated browser; a manual check in Chrome is still recommended.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Observed results from running the simulator code: 20 references, 3 frames. Hit ratio = hits divided by 20. Optimal is best but needs the future, so it is a benchmark. Clock lands between FIFO and LRU in this run; results depend on the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String 1 2 3 4 1 2 5 1 2 3 4 5. Belady's anomaly: more frames, more faults. Observed: FIFO goes from 9 to 10. LRU and Optimal improve (10 to 8, 7 to 6). Clock also goes from 9 to 10 in our implementation. Reference: Belady, Nelson and Shedler, 1969.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Benefit: learners see why algorithms differ. Limits: this is a simulation of resident-page misses. Future scope items are ideas, not completed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Names and personal evidence must be filled in by the team members themselves. The code parts below come from our team contribution sheet. Do not present anyone as responsible for work they did not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then run the 2-minute demo: Load example, play FIFO, switch to Optimal, show the chart, then Belady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references are from the course handout list or the original anomaly papers. Verify page numbers before quoting.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B2A4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7863840" cy="137160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TOP">
    <p:bg>
      <p:bgPr>
        <a:solidFill>
          <a:srgbClr val="1B2A4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7863840" cy="822960"/>
          </a:xfrm>
          <a:prstGeom prst="rect">
            <a:avLst/>
          </a:prstGeom>
          <a:noFill/>
          <a:ln/>
        </p:spPr>
        <p:txBody>
          <a:bodyPr wrap="square" rtlCol="0"/>
          <a:lstStyle>
            <a:lvl1pPr algn="l" indent="0" marL="0">
              <a:buNone/>
              <a:defRPr lang="en-US" sz="3400" b="1" dirty="0">
                <a:solidFill>
                  <a:srgbClr val="FFFFFF"/>
                </a:solidFill>
              </a:defRPr>
            </a:lvl1pPr>
          </a:lstStyle>
          <a:p>
            <a:pPr algn="l" indent="0" marL="0">
              <a:buNone/>
            </a:pPr>
            <a:endParaRPr lang="en-US" sz="3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200" b="1" dirty="0">
                <a:solidFill>
                  <a:srgbClr val="1B2A49"/>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D"/>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D"/>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7863840" cy="1371600"/>
          </a:xfrm>
          <a:prstGeom prst="rect">
            <a:avLst/>
          </a:prstGeom>
          <a:noFill/>
          <a:ln/>
        </p:spPr>
        <p:txBody>
          <a:bodyPr wrap="square" lIns="0" tIns="0" rIns="0" bIns="0" rtlCol="0" anchor="t"/>
          <a:lstStyle/>
          <a:p>
            <a:pPr algn="l" indent="0" marL="0">
              <a:buNone/>
            </a:pPr>
            <a:r>
              <a:rPr lang="en-US" sz="4000" b="1" dirty="0">
                <a:solidFill>
                  <a:srgbClr val="FFFFFF"/>
                </a:solidFill>
              </a:rPr>
              <a:t>Virtual Memory Page Replacement Visualizer</a:t>
            </a:r>
            <a:endParaRPr lang="en-US" sz="4000" dirty="0"/>
          </a:p>
        </p:txBody>
      </p:sp>
      <p:sp>
        <p:nvSpPr>
          <p:cNvPr id="4" name="Shape 1"/>
          <p:cNvSpPr/>
          <p:nvPr/>
        </p:nvSpPr>
        <p:spPr>
          <a:xfrm>
            <a:off x="640080" y="502920"/>
            <a:ext cx="548640" cy="548640"/>
          </a:xfrm>
          <a:prstGeom prst="roundRect">
            <a:avLst>
              <a:gd name="adj" fmla="val 13333"/>
            </a:avLst>
          </a:prstGeom>
          <a:solidFill>
            <a:srgbClr val="1B2A49"/>
          </a:solidFill>
          <a:ln w="31750">
            <a:solidFill>
              <a:srgbClr val="D64545"/>
            </a:solidFill>
            <a:prstDash val="solid"/>
          </a:ln>
        </p:spPr>
      </p:sp>
      <p:sp>
        <p:nvSpPr>
          <p:cNvPr id="5" name="Text 2"/>
          <p:cNvSpPr txBox="1"/>
          <p:nvPr/>
        </p:nvSpPr>
        <p:spPr>
          <a:xfrm>
            <a:off x="640080" y="502920"/>
            <a:ext cx="548640" cy="548640"/>
          </a:xfrm>
          <a:prstGeom prst="rect">
            <a:avLst/>
          </a:prstGeom>
          <a:noFill/>
          <a:ln/>
        </p:spPr>
        <p:txBody>
          <a:bodyPr wrap="square" lIns="0" tIns="0" rIns="0" bIns="0" rtlCol="0" anchor="ctr"/>
          <a:lstStyle/>
          <a:p>
            <a:pPr algn="ctr" indent="0" marL="0">
              <a:buNone/>
            </a:pPr>
            <a:r>
              <a:rPr lang="en-US" sz="2000" b="1" dirty="0">
                <a:solidFill>
                  <a:srgbClr val="D64545"/>
                </a:solidFill>
                <a:latin typeface="Calibri" pitchFamily="34" charset="0"/>
                <a:ea typeface="Calibri" pitchFamily="34" charset="-122"/>
                <a:cs typeface="Calibri" pitchFamily="34" charset="-120"/>
              </a:rPr>
              <a:t>7</a:t>
            </a:r>
            <a:endParaRPr lang="en-US" sz="2000" dirty="0"/>
          </a:p>
        </p:txBody>
      </p:sp>
      <p:sp>
        <p:nvSpPr>
          <p:cNvPr id="6" name="Shape 3"/>
          <p:cNvSpPr/>
          <p:nvPr/>
        </p:nvSpPr>
        <p:spPr>
          <a:xfrm>
            <a:off x="1325880" y="502920"/>
            <a:ext cx="548640" cy="548640"/>
          </a:xfrm>
          <a:prstGeom prst="roundRect">
            <a:avLst>
              <a:gd name="adj" fmla="val 13333"/>
            </a:avLst>
          </a:prstGeom>
          <a:solidFill>
            <a:srgbClr val="1B2A49"/>
          </a:solidFill>
          <a:ln w="31750">
            <a:solidFill>
              <a:srgbClr val="1E8E4E"/>
            </a:solidFill>
            <a:prstDash val="solid"/>
          </a:ln>
        </p:spPr>
      </p:sp>
      <p:sp>
        <p:nvSpPr>
          <p:cNvPr id="7" name="Text 4"/>
          <p:cNvSpPr txBox="1"/>
          <p:nvPr/>
        </p:nvSpPr>
        <p:spPr>
          <a:xfrm>
            <a:off x="1325880" y="502920"/>
            <a:ext cx="548640" cy="548640"/>
          </a:xfrm>
          <a:prstGeom prst="rect">
            <a:avLst/>
          </a:prstGeom>
          <a:noFill/>
          <a:ln/>
        </p:spPr>
        <p:txBody>
          <a:bodyPr wrap="square" lIns="0" tIns="0" rIns="0" bIns="0" rtlCol="0" anchor="ctr"/>
          <a:lstStyle/>
          <a:p>
            <a:pPr algn="ctr" indent="0" marL="0">
              <a:buNone/>
            </a:pPr>
            <a:r>
              <a:rPr lang="en-US" sz="2000" b="1" dirty="0">
                <a:solidFill>
                  <a:srgbClr val="1E8E4E"/>
                </a:solidFill>
                <a:latin typeface="Calibri" pitchFamily="34" charset="0"/>
                <a:ea typeface="Calibri" pitchFamily="34" charset="-122"/>
                <a:cs typeface="Calibri" pitchFamily="34" charset="-120"/>
              </a:rPr>
              <a:t>0</a:t>
            </a:r>
            <a:endParaRPr lang="en-US" sz="2000" dirty="0"/>
          </a:p>
        </p:txBody>
      </p:sp>
      <p:sp>
        <p:nvSpPr>
          <p:cNvPr id="8" name="Shape 5"/>
          <p:cNvSpPr/>
          <p:nvPr/>
        </p:nvSpPr>
        <p:spPr>
          <a:xfrm>
            <a:off x="2011680" y="502920"/>
            <a:ext cx="548640" cy="548640"/>
          </a:xfrm>
          <a:prstGeom prst="roundRect">
            <a:avLst>
              <a:gd name="adj" fmla="val 13333"/>
            </a:avLst>
          </a:prstGeom>
          <a:solidFill>
            <a:srgbClr val="1B2A49"/>
          </a:solidFill>
          <a:ln w="31750">
            <a:solidFill>
              <a:srgbClr val="FFFFFF"/>
            </a:solidFill>
            <a:prstDash val="solid"/>
          </a:ln>
        </p:spPr>
      </p:sp>
      <p:sp>
        <p:nvSpPr>
          <p:cNvPr id="9" name="Text 6"/>
          <p:cNvSpPr txBox="1"/>
          <p:nvPr/>
        </p:nvSpPr>
        <p:spPr>
          <a:xfrm>
            <a:off x="2011680" y="5029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0" name="Text 7"/>
          <p:cNvSpPr txBox="1"/>
          <p:nvPr/>
        </p:nvSpPr>
        <p:spPr>
          <a:xfrm>
            <a:off x="640080" y="2926080"/>
            <a:ext cx="7863840" cy="457200"/>
          </a:xfrm>
          <a:prstGeom prst="rect">
            <a:avLst/>
          </a:prstGeom>
          <a:noFill/>
          <a:ln/>
        </p:spPr>
        <p:txBody>
          <a:bodyPr wrap="square" lIns="0" tIns="0" rIns="0" bIns="0" rtlCol="0" anchor="t"/>
          <a:lstStyle/>
          <a:p>
            <a:pPr indent="0" marL="0">
              <a:buNone/>
            </a:pPr>
            <a:r>
              <a:rPr lang="en-US" sz="2000" dirty="0">
                <a:solidFill>
                  <a:srgbClr val="CADCFC"/>
                </a:solidFill>
                <a:latin typeface="Calibri" pitchFamily="34" charset="0"/>
                <a:ea typeface="Calibri" pitchFamily="34" charset="-122"/>
                <a:cs typeface="Calibri" pitchFamily="34" charset="-120"/>
              </a:rPr>
              <a:t>Compare FIFO, LRU, Optimal and Clock, one reference at a time</a:t>
            </a:r>
            <a:endParaRPr lang="en-US" sz="2000" dirty="0"/>
          </a:p>
        </p:txBody>
      </p:sp>
      <p:sp>
        <p:nvSpPr>
          <p:cNvPr id="11" name="Text 8"/>
          <p:cNvSpPr txBox="1"/>
          <p:nvPr/>
        </p:nvSpPr>
        <p:spPr>
          <a:xfrm>
            <a:off x="640080" y="3749040"/>
            <a:ext cx="7863840" cy="914400"/>
          </a:xfrm>
          <a:prstGeom prst="rect">
            <a:avLst/>
          </a:prstGeom>
          <a:noFill/>
          <a:ln/>
        </p:spPr>
        <p:txBody>
          <a:bodyPr wrap="square" lIns="0" tIns="0" rIns="0" bIns="0" rtlCol="0" anchor="t"/>
          <a:lstStyle/>
          <a:p>
            <a:pPr indent="0" marL="0">
              <a:spcAft>
                <a:spcPts val="400"/>
              </a:spcAft>
              <a:buNone/>
            </a:pPr>
            <a:r>
              <a:rPr lang="en-US" sz="1400" dirty="0">
                <a:solidFill>
                  <a:srgbClr val="FFFFFF"/>
                </a:solidFill>
                <a:latin typeface="Calibri" pitchFamily="34" charset="0"/>
                <a:ea typeface="Calibri" pitchFamily="34" charset="-122"/>
                <a:cs typeface="Calibri" pitchFamily="34" charset="-120"/>
              </a:rPr>
              <a:t>Operating Systems and Systems Programming (25CS2104E)</a:t>
            </a:r>
            <a:endParaRPr lang="en-US" sz="1400" dirty="0"/>
          </a:p>
          <a:p>
            <a:pPr indent="0" marL="0">
              <a:spcAft>
                <a:spcPts val="400"/>
              </a:spcAft>
              <a:buNone/>
            </a:pPr>
            <a:r>
              <a:rPr lang="en-US" sz="1400" dirty="0">
                <a:solidFill>
                  <a:srgbClr val="FFFFFF"/>
                </a:solidFill>
                <a:latin typeface="Calibri" pitchFamily="34" charset="0"/>
                <a:ea typeface="Calibri" pitchFamily="34" charset="-122"/>
                <a:cs typeface="Calibri" pitchFamily="34" charset="-120"/>
              </a:rPr>
              <a:t>K L Deemed to be University</a:t>
            </a:r>
            <a:endParaRPr lang="en-US" sz="1400" dirty="0"/>
          </a:p>
          <a:p>
            <a:pPr indent="0" marL="0">
              <a:spcAft>
                <a:spcPts val="400"/>
              </a:spcAft>
              <a:buNone/>
            </a:pPr>
            <a:r>
              <a:rPr lang="en-US" sz="1400" dirty="0">
                <a:solidFill>
                  <a:srgbClr val="FFFFFF"/>
                </a:solidFill>
                <a:latin typeface="Calibri" pitchFamily="34" charset="0"/>
                <a:ea typeface="Calibri" pitchFamily="34" charset="-122"/>
                <a:cs typeface="Calibri" pitchFamily="34" charset="-120"/>
              </a:rPr>
              <a:t>Team name: [TO BE FILLED]   |   Team members: [TO BE FILLED]   |   17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1B2A49"/>
                </a:solidFill>
              </a:rPr>
              <a:t>The problem</a:t>
            </a:r>
            <a:endParaRPr lang="en-US" sz="3200" dirty="0"/>
          </a:p>
        </p:txBody>
      </p:sp>
      <p:sp>
        <p:nvSpPr>
          <p:cNvPr id="4" name="Text 1"/>
          <p:cNvSpPr txBox="1"/>
          <p:nvPr/>
        </p:nvSpPr>
        <p:spPr>
          <a:xfrm>
            <a:off x="457200" y="1188720"/>
            <a:ext cx="4206240" cy="29260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A49"/>
                </a:solidFill>
                <a:latin typeface="Calibri" pitchFamily="34" charset="0"/>
                <a:ea typeface="Calibri" pitchFamily="34" charset="-122"/>
                <a:cs typeface="Calibri" pitchFamily="34" charset="-120"/>
              </a:rPr>
              <a:t>RAM holds only a few page frames at a time</a:t>
            </a:r>
            <a:endParaRPr lang="en-US" sz="1600" dirty="0"/>
          </a:p>
          <a:p>
            <a:pPr marL="342900" indent="-342900">
              <a:spcAft>
                <a:spcPts val="600"/>
              </a:spcAft>
              <a:buSzPct val="100000"/>
              <a:buChar char="•"/>
            </a:pPr>
            <a:r>
              <a:rPr lang="en-US" sz="1600" dirty="0">
                <a:solidFill>
                  <a:srgbClr val="1B2A49"/>
                </a:solidFill>
                <a:latin typeface="Calibri" pitchFamily="34" charset="0"/>
                <a:ea typeface="Calibri" pitchFamily="34" charset="-122"/>
                <a:cs typeface="Calibri" pitchFamily="34" charset="-120"/>
              </a:rPr>
              <a:t>A page fault means the page must be fetched from storage, which is far slower than memory</a:t>
            </a:r>
            <a:endParaRPr lang="en-US" sz="1600" dirty="0"/>
          </a:p>
          <a:p>
            <a:pPr marL="342900" indent="-342900">
              <a:spcAft>
                <a:spcPts val="600"/>
              </a:spcAft>
              <a:buSzPct val="100000"/>
              <a:buChar char="•"/>
            </a:pPr>
            <a:r>
              <a:rPr lang="en-US" sz="1600" dirty="0">
                <a:solidFill>
                  <a:srgbClr val="1B2A49"/>
                </a:solidFill>
                <a:latin typeface="Calibri" pitchFamily="34" charset="0"/>
                <a:ea typeface="Calibri" pitchFamily="34" charset="-122"/>
                <a:cs typeface="Calibri" pitchFamily="34" charset="-120"/>
              </a:rPr>
              <a:t>A poor choice of victim page causes more faults later</a:t>
            </a:r>
            <a:endParaRPr lang="en-US" sz="1600" dirty="0"/>
          </a:p>
          <a:p>
            <a:pPr marL="342900" indent="-342900">
              <a:spcAft>
                <a:spcPts val="600"/>
              </a:spcAft>
              <a:buSzPct val="100000"/>
              <a:buChar char="•"/>
            </a:pPr>
            <a:r>
              <a:rPr lang="en-US" sz="1600" dirty="0">
                <a:solidFill>
                  <a:srgbClr val="1B2A49"/>
                </a:solidFill>
                <a:latin typeface="Calibri" pitchFamily="34" charset="0"/>
                <a:ea typeface="Calibri" pitchFamily="34" charset="-122"/>
                <a:cs typeface="Calibri" pitchFamily="34" charset="-120"/>
              </a:rPr>
              <a:t>Students struggle to see these decisions on paper</a:t>
            </a:r>
            <a:endParaRPr lang="en-US" sz="1600" dirty="0"/>
          </a:p>
        </p:txBody>
      </p:sp>
      <p:sp>
        <p:nvSpPr>
          <p:cNvPr id="5" name="Shape 2"/>
          <p:cNvSpPr/>
          <p:nvPr/>
        </p:nvSpPr>
        <p:spPr>
          <a:xfrm>
            <a:off x="5029200" y="1188720"/>
            <a:ext cx="3657600" cy="914400"/>
          </a:xfrm>
          <a:prstGeom prst="roundRect">
            <a:avLst>
              <a:gd name="adj" fmla="val 8000"/>
            </a:avLst>
          </a:prstGeom>
          <a:solidFill>
            <a:srgbClr val="EEF3F8"/>
          </a:solidFill>
          <a:ln w="9525">
            <a:solidFill>
              <a:srgbClr val="D3DBE6"/>
            </a:solidFill>
            <a:prstDash val="solid"/>
          </a:ln>
        </p:spPr>
      </p:sp>
      <p:sp>
        <p:nvSpPr>
          <p:cNvPr id="6" name="Text 3"/>
          <p:cNvSpPr txBox="1"/>
          <p:nvPr/>
        </p:nvSpPr>
        <p:spPr>
          <a:xfrm>
            <a:off x="5212080" y="1188720"/>
            <a:ext cx="1188720" cy="914400"/>
          </a:xfrm>
          <a:prstGeom prst="rect">
            <a:avLst/>
          </a:prstGeom>
          <a:noFill/>
          <a:ln/>
        </p:spPr>
        <p:txBody>
          <a:bodyPr wrap="square" lIns="0" tIns="0" rIns="0" bIns="0" rtlCol="0" anchor="ctr"/>
          <a:lstStyle/>
          <a:p>
            <a:pPr indent="0" marL="0">
              <a:buNone/>
            </a:pPr>
            <a:r>
              <a:rPr lang="en-US" sz="4400" b="1" dirty="0">
                <a:solidFill>
                  <a:srgbClr val="D64545"/>
                </a:solidFill>
                <a:latin typeface="Cambria" pitchFamily="34" charset="0"/>
                <a:ea typeface="Cambria" pitchFamily="34" charset="-122"/>
                <a:cs typeface="Cambria" pitchFamily="34" charset="-120"/>
              </a:rPr>
              <a:t>15</a:t>
            </a:r>
            <a:endParaRPr lang="en-US" sz="4400" dirty="0"/>
          </a:p>
        </p:txBody>
      </p:sp>
      <p:sp>
        <p:nvSpPr>
          <p:cNvPr id="7" name="Text 4"/>
          <p:cNvSpPr txBox="1"/>
          <p:nvPr/>
        </p:nvSpPr>
        <p:spPr>
          <a:xfrm>
            <a:off x="6400800" y="1188720"/>
            <a:ext cx="2194560" cy="914400"/>
          </a:xfrm>
          <a:prstGeom prst="rect">
            <a:avLst/>
          </a:prstGeom>
          <a:noFill/>
          <a:ln/>
        </p:spPr>
        <p:txBody>
          <a:bodyPr wrap="square" lIns="0" tIns="0" rIns="0" bIns="0" rtlCol="0" anchor="ctr"/>
          <a:lstStyle/>
          <a:p>
            <a:pPr indent="0" marL="0">
              <a:buNone/>
            </a:pPr>
            <a:r>
              <a:rPr lang="en-US" sz="1800" dirty="0">
                <a:solidFill>
                  <a:srgbClr val="1B2A49"/>
                </a:solidFill>
                <a:latin typeface="Calibri" pitchFamily="34" charset="0"/>
                <a:ea typeface="Calibri" pitchFamily="34" charset="-122"/>
                <a:cs typeface="Calibri" pitchFamily="34" charset="-120"/>
              </a:rPr>
              <a:t>FIFO faults</a:t>
            </a:r>
            <a:endParaRPr lang="en-US" sz="1800" dirty="0"/>
          </a:p>
        </p:txBody>
      </p:sp>
      <p:sp>
        <p:nvSpPr>
          <p:cNvPr id="8" name="Shape 5"/>
          <p:cNvSpPr/>
          <p:nvPr/>
        </p:nvSpPr>
        <p:spPr>
          <a:xfrm>
            <a:off x="5029200" y="2286000"/>
            <a:ext cx="3657600" cy="914400"/>
          </a:xfrm>
          <a:prstGeom prst="roundRect">
            <a:avLst>
              <a:gd name="adj" fmla="val 8000"/>
            </a:avLst>
          </a:prstGeom>
          <a:solidFill>
            <a:srgbClr val="EEF3F8"/>
          </a:solidFill>
          <a:ln w="9525">
            <a:solidFill>
              <a:srgbClr val="D3DBE6"/>
            </a:solidFill>
            <a:prstDash val="solid"/>
          </a:ln>
        </p:spPr>
      </p:sp>
      <p:sp>
        <p:nvSpPr>
          <p:cNvPr id="9" name="Text 6"/>
          <p:cNvSpPr txBox="1"/>
          <p:nvPr/>
        </p:nvSpPr>
        <p:spPr>
          <a:xfrm>
            <a:off x="5212080" y="2286000"/>
            <a:ext cx="1188720" cy="914400"/>
          </a:xfrm>
          <a:prstGeom prst="rect">
            <a:avLst/>
          </a:prstGeom>
          <a:noFill/>
          <a:ln/>
        </p:spPr>
        <p:txBody>
          <a:bodyPr wrap="square" lIns="0" tIns="0" rIns="0" bIns="0" rtlCol="0" anchor="ctr"/>
          <a:lstStyle/>
          <a:p>
            <a:pPr indent="0" marL="0">
              <a:buNone/>
            </a:pPr>
            <a:r>
              <a:rPr lang="en-US" sz="4400" b="1" dirty="0">
                <a:solidFill>
                  <a:srgbClr val="C98A1B"/>
                </a:solidFill>
                <a:latin typeface="Cambria" pitchFamily="34" charset="0"/>
                <a:ea typeface="Cambria" pitchFamily="34" charset="-122"/>
                <a:cs typeface="Cambria" pitchFamily="34" charset="-120"/>
              </a:rPr>
              <a:t>12</a:t>
            </a:r>
            <a:endParaRPr lang="en-US" sz="4400" dirty="0"/>
          </a:p>
        </p:txBody>
      </p:sp>
      <p:sp>
        <p:nvSpPr>
          <p:cNvPr id="10" name="Text 7"/>
          <p:cNvSpPr txBox="1"/>
          <p:nvPr/>
        </p:nvSpPr>
        <p:spPr>
          <a:xfrm>
            <a:off x="6400800" y="2286000"/>
            <a:ext cx="2194560" cy="914400"/>
          </a:xfrm>
          <a:prstGeom prst="rect">
            <a:avLst/>
          </a:prstGeom>
          <a:noFill/>
          <a:ln/>
        </p:spPr>
        <p:txBody>
          <a:bodyPr wrap="square" lIns="0" tIns="0" rIns="0" bIns="0" rtlCol="0" anchor="ctr"/>
          <a:lstStyle/>
          <a:p>
            <a:pPr indent="0" marL="0">
              <a:buNone/>
            </a:pPr>
            <a:r>
              <a:rPr lang="en-US" sz="1800" dirty="0">
                <a:solidFill>
                  <a:srgbClr val="1B2A49"/>
                </a:solidFill>
                <a:latin typeface="Calibri" pitchFamily="34" charset="0"/>
                <a:ea typeface="Calibri" pitchFamily="34" charset="-122"/>
                <a:cs typeface="Calibri" pitchFamily="34" charset="-120"/>
              </a:rPr>
              <a:t>LRU faults</a:t>
            </a:r>
            <a:endParaRPr lang="en-US" sz="1800" dirty="0"/>
          </a:p>
        </p:txBody>
      </p:sp>
      <p:sp>
        <p:nvSpPr>
          <p:cNvPr id="11" name="Shape 8"/>
          <p:cNvSpPr/>
          <p:nvPr/>
        </p:nvSpPr>
        <p:spPr>
          <a:xfrm>
            <a:off x="5029200" y="3383280"/>
            <a:ext cx="3657600" cy="914400"/>
          </a:xfrm>
          <a:prstGeom prst="roundRect">
            <a:avLst>
              <a:gd name="adj" fmla="val 8000"/>
            </a:avLst>
          </a:prstGeom>
          <a:solidFill>
            <a:srgbClr val="EEF3F8"/>
          </a:solidFill>
          <a:ln w="9525">
            <a:solidFill>
              <a:srgbClr val="D3DBE6"/>
            </a:solidFill>
            <a:prstDash val="solid"/>
          </a:ln>
        </p:spPr>
      </p:sp>
      <p:sp>
        <p:nvSpPr>
          <p:cNvPr id="12" name="Text 9"/>
          <p:cNvSpPr txBox="1"/>
          <p:nvPr/>
        </p:nvSpPr>
        <p:spPr>
          <a:xfrm>
            <a:off x="5212080" y="3383280"/>
            <a:ext cx="1188720" cy="914400"/>
          </a:xfrm>
          <a:prstGeom prst="rect">
            <a:avLst/>
          </a:prstGeom>
          <a:noFill/>
          <a:ln/>
        </p:spPr>
        <p:txBody>
          <a:bodyPr wrap="square" lIns="0" tIns="0" rIns="0" bIns="0" rtlCol="0" anchor="ctr"/>
          <a:lstStyle/>
          <a:p>
            <a:pPr indent="0" marL="0">
              <a:buNone/>
            </a:pPr>
            <a:r>
              <a:rPr lang="en-US" sz="4400" b="1" dirty="0">
                <a:solidFill>
                  <a:srgbClr val="1E8E4E"/>
                </a:solidFill>
                <a:latin typeface="Cambria" pitchFamily="34" charset="0"/>
                <a:ea typeface="Cambria" pitchFamily="34" charset="-122"/>
                <a:cs typeface="Cambria" pitchFamily="34" charset="-120"/>
              </a:rPr>
              <a:t>9</a:t>
            </a:r>
            <a:endParaRPr lang="en-US" sz="4400" dirty="0"/>
          </a:p>
        </p:txBody>
      </p:sp>
      <p:sp>
        <p:nvSpPr>
          <p:cNvPr id="13" name="Text 10"/>
          <p:cNvSpPr txBox="1"/>
          <p:nvPr/>
        </p:nvSpPr>
        <p:spPr>
          <a:xfrm>
            <a:off x="6400800" y="3383280"/>
            <a:ext cx="2194560" cy="914400"/>
          </a:xfrm>
          <a:prstGeom prst="rect">
            <a:avLst/>
          </a:prstGeom>
          <a:noFill/>
          <a:ln/>
        </p:spPr>
        <p:txBody>
          <a:bodyPr wrap="square" lIns="0" tIns="0" rIns="0" bIns="0" rtlCol="0" anchor="ctr"/>
          <a:lstStyle/>
          <a:p>
            <a:pPr indent="0" marL="0">
              <a:buNone/>
            </a:pPr>
            <a:r>
              <a:rPr lang="en-US" sz="1800" dirty="0">
                <a:solidFill>
                  <a:srgbClr val="1B2A49"/>
                </a:solidFill>
                <a:latin typeface="Calibri" pitchFamily="34" charset="0"/>
                <a:ea typeface="Calibri" pitchFamily="34" charset="-122"/>
                <a:cs typeface="Calibri" pitchFamily="34" charset="-120"/>
              </a:rPr>
              <a:t>Optimal faults</a:t>
            </a:r>
            <a:endParaRPr lang="en-US" sz="1800" dirty="0"/>
          </a:p>
        </p:txBody>
      </p:sp>
      <p:sp>
        <p:nvSpPr>
          <p:cNvPr id="14" name="Text 11"/>
          <p:cNvSpPr txBox="1"/>
          <p:nvPr/>
        </p:nvSpPr>
        <p:spPr>
          <a:xfrm>
            <a:off x="5029200" y="4526280"/>
            <a:ext cx="3657600" cy="320040"/>
          </a:xfrm>
          <a:prstGeom prst="rect">
            <a:avLst/>
          </a:prstGeom>
          <a:noFill/>
          <a:ln/>
        </p:spPr>
        <p:txBody>
          <a:bodyPr wrap="square" lIns="0" tIns="0" rIns="0" bIns="0" rtlCol="0" anchor="t"/>
          <a:lstStyle/>
          <a:p>
            <a:pPr indent="0" marL="0">
              <a:buNone/>
            </a:pPr>
            <a:r>
              <a:rPr lang="en-US" sz="1200" dirty="0">
                <a:solidFill>
                  <a:srgbClr val="5B6B7D"/>
                </a:solidFill>
                <a:latin typeface="Calibri" pitchFamily="34" charset="0"/>
                <a:ea typeface="Calibri" pitchFamily="34" charset="-122"/>
                <a:cs typeface="Calibri" pitchFamily="34" charset="-120"/>
              </a:rPr>
              <a:t>Same 20 references, 3 frames: the replacement rule changes the cost.</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D"/>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1B2A49"/>
                </a:solidFill>
              </a:rPr>
              <a:t>Goals and course mapping</a:t>
            </a:r>
            <a:endParaRPr lang="en-US" sz="3200" dirty="0"/>
          </a:p>
        </p:txBody>
      </p:sp>
      <p:sp>
        <p:nvSpPr>
          <p:cNvPr id="4" name="Text 1"/>
          <p:cNvSpPr txBox="1"/>
          <p:nvPr/>
        </p:nvSpPr>
        <p:spPr>
          <a:xfrm>
            <a:off x="457200" y="1188720"/>
            <a:ext cx="4297680" cy="310896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A49"/>
                </a:solidFill>
                <a:latin typeface="Calibri" pitchFamily="34" charset="0"/>
                <a:ea typeface="Calibri" pitchFamily="34" charset="-122"/>
                <a:cs typeface="Calibri" pitchFamily="34" charset="-120"/>
              </a:rPr>
              <a:t>Show page replacement visually, step by step</a:t>
            </a:r>
            <a:endParaRPr lang="en-US" sz="1600" dirty="0"/>
          </a:p>
          <a:p>
            <a:pPr marL="342900" indent="-342900">
              <a:spcAft>
                <a:spcPts val="600"/>
              </a:spcAft>
              <a:buSzPct val="100000"/>
              <a:buChar char="•"/>
            </a:pPr>
            <a:r>
              <a:rPr lang="en-US" sz="1600" dirty="0">
                <a:solidFill>
                  <a:srgbClr val="1B2A49"/>
                </a:solidFill>
                <a:latin typeface="Calibri" pitchFamily="34" charset="0"/>
                <a:ea typeface="Calibri" pitchFamily="34" charset="-122"/>
                <a:cs typeface="Calibri" pitchFamily="34" charset="-120"/>
              </a:rPr>
              <a:t>Implement FIFO, LRU, Optimal and Clock correctly</a:t>
            </a:r>
            <a:endParaRPr lang="en-US" sz="1600" dirty="0"/>
          </a:p>
          <a:p>
            <a:pPr marL="342900" indent="-342900">
              <a:spcAft>
                <a:spcPts val="600"/>
              </a:spcAft>
              <a:buSzPct val="100000"/>
              <a:buChar char="•"/>
            </a:pPr>
            <a:r>
              <a:rPr lang="en-US" sz="1600" dirty="0">
                <a:solidFill>
                  <a:srgbClr val="1B2A49"/>
                </a:solidFill>
                <a:latin typeface="Calibri" pitchFamily="34" charset="0"/>
                <a:ea typeface="Calibri" pitchFamily="34" charset="-122"/>
                <a:cs typeface="Calibri" pitchFamily="34" charset="-120"/>
              </a:rPr>
              <a:t>Explain every eviction in plain English</a:t>
            </a:r>
            <a:endParaRPr lang="en-US" sz="1600" dirty="0"/>
          </a:p>
          <a:p>
            <a:pPr marL="342900" indent="-342900">
              <a:spcAft>
                <a:spcPts val="600"/>
              </a:spcAft>
              <a:buSzPct val="100000"/>
              <a:buChar char="•"/>
            </a:pPr>
            <a:r>
              <a:rPr lang="en-US" sz="1600" dirty="0">
                <a:solidFill>
                  <a:srgbClr val="1B2A49"/>
                </a:solidFill>
                <a:latin typeface="Calibri" pitchFamily="34" charset="0"/>
                <a:ea typeface="Calibri" pitchFamily="34" charset="-122"/>
                <a:cs typeface="Calibri" pitchFamily="34" charset="-120"/>
              </a:rPr>
              <a:t>Compare fault counts across algorithms</a:t>
            </a:r>
            <a:endParaRPr lang="en-US" sz="1600" dirty="0"/>
          </a:p>
          <a:p>
            <a:pPr marL="342900" indent="-342900">
              <a:spcAft>
                <a:spcPts val="600"/>
              </a:spcAft>
              <a:buSzPct val="100000"/>
              <a:buChar char="•"/>
            </a:pPr>
            <a:r>
              <a:rPr lang="en-US" sz="1600" dirty="0">
                <a:solidFill>
                  <a:srgbClr val="1B2A49"/>
                </a:solidFill>
                <a:latin typeface="Calibri" pitchFamily="34" charset="0"/>
                <a:ea typeface="Calibri" pitchFamily="34" charset="-122"/>
                <a:cs typeface="Calibri" pitchFamily="34" charset="-120"/>
              </a:rPr>
              <a:t>Demonstrate Belady's anomaly</a:t>
            </a:r>
            <a:endParaRPr lang="en-US" sz="1600" dirty="0"/>
          </a:p>
        </p:txBody>
      </p:sp>
      <p:sp>
        <p:nvSpPr>
          <p:cNvPr id="5" name="Shape 2"/>
          <p:cNvSpPr/>
          <p:nvPr/>
        </p:nvSpPr>
        <p:spPr>
          <a:xfrm>
            <a:off x="5029200" y="1188720"/>
            <a:ext cx="3657600" cy="2834640"/>
          </a:xfrm>
          <a:prstGeom prst="roundRect">
            <a:avLst>
              <a:gd name="adj" fmla="val 2581"/>
            </a:avLst>
          </a:prstGeom>
          <a:solidFill>
            <a:srgbClr val="EEF3F8"/>
          </a:solidFill>
          <a:ln w="9525">
            <a:solidFill>
              <a:srgbClr val="D3DBE6"/>
            </a:solidFill>
            <a:prstDash val="solid"/>
          </a:ln>
        </p:spPr>
      </p:sp>
      <p:sp>
        <p:nvSpPr>
          <p:cNvPr id="6" name="Text 3"/>
          <p:cNvSpPr txBox="1"/>
          <p:nvPr/>
        </p:nvSpPr>
        <p:spPr>
          <a:xfrm>
            <a:off x="5212080" y="1325880"/>
            <a:ext cx="3291840" cy="365760"/>
          </a:xfrm>
          <a:prstGeom prst="rect">
            <a:avLst/>
          </a:prstGeom>
          <a:noFill/>
          <a:ln/>
        </p:spPr>
        <p:txBody>
          <a:bodyPr wrap="square" lIns="0" tIns="0" rIns="0" bIns="0" rtlCol="0" anchor="t"/>
          <a:lstStyle/>
          <a:p>
            <a:pPr indent="0" marL="0">
              <a:buNone/>
            </a:pPr>
            <a:r>
              <a:rPr lang="en-US" sz="1800" b="1" dirty="0">
                <a:solidFill>
                  <a:srgbClr val="0F8B8D"/>
                </a:solidFill>
                <a:latin typeface="Calibri" pitchFamily="34" charset="0"/>
                <a:ea typeface="Calibri" pitchFamily="34" charset="-122"/>
                <a:cs typeface="Calibri" pitchFamily="34" charset="-120"/>
              </a:rPr>
              <a:t>CO4: Memory Management</a:t>
            </a:r>
            <a:endParaRPr lang="en-US" sz="1800" dirty="0"/>
          </a:p>
        </p:txBody>
      </p:sp>
      <p:sp>
        <p:nvSpPr>
          <p:cNvPr id="7" name="Text 4"/>
          <p:cNvSpPr txBox="1"/>
          <p:nvPr/>
        </p:nvSpPr>
        <p:spPr>
          <a:xfrm>
            <a:off x="5212080" y="1783080"/>
            <a:ext cx="3291840" cy="1463040"/>
          </a:xfrm>
          <a:prstGeom prst="rect">
            <a:avLst/>
          </a:prstGeom>
          <a:noFill/>
          <a:ln/>
        </p:spPr>
        <p:txBody>
          <a:bodyPr wrap="square" lIns="0" tIns="0" rIns="0" bIns="0" rtlCol="0" anchor="t"/>
          <a:lstStyle/>
          <a:p>
            <a:pPr indent="0" marL="0">
              <a:buNone/>
            </a:pPr>
            <a:r>
              <a:rPr lang="en-US" sz="1400" dirty="0">
                <a:solidFill>
                  <a:srgbClr val="1B2A49"/>
                </a:solidFill>
                <a:latin typeface="Calibri" pitchFamily="34" charset="0"/>
                <a:ea typeface="Calibri" pitchFamily="34" charset="-122"/>
                <a:cs typeface="Calibri" pitchFamily="34" charset="-120"/>
              </a:rPr>
              <a:t>Analyze virtual memory: paging, address translation, the TLB, page faults, demand paging and copy-on-write (course handout, 25CS2104E).</a:t>
            </a:r>
            <a:endParaRPr lang="en-US" sz="1400" dirty="0"/>
          </a:p>
        </p:txBody>
      </p:sp>
      <p:sp>
        <p:nvSpPr>
          <p:cNvPr id="8" name="Text 5"/>
          <p:cNvSpPr txBox="1"/>
          <p:nvPr/>
        </p:nvSpPr>
        <p:spPr>
          <a:xfrm>
            <a:off x="5212080" y="3154680"/>
            <a:ext cx="3291840" cy="777240"/>
          </a:xfrm>
          <a:prstGeom prst="rect">
            <a:avLst/>
          </a:prstGeom>
          <a:noFill/>
          <a:ln/>
        </p:spPr>
        <p:txBody>
          <a:bodyPr wrap="square" lIns="0" tIns="0" rIns="0" bIns="0" rtlCol="0" anchor="t"/>
          <a:lstStyle/>
          <a:p>
            <a:pPr indent="0" marL="0">
              <a:buNone/>
            </a:pPr>
            <a:r>
              <a:rPr lang="en-US" sz="1200" dirty="0">
                <a:solidFill>
                  <a:srgbClr val="5B6B7D"/>
                </a:solidFill>
                <a:latin typeface="Calibri" pitchFamily="34" charset="0"/>
                <a:ea typeface="Calibri" pitchFamily="34" charset="-122"/>
                <a:cs typeface="Calibri" pitchFamily="34" charset="-120"/>
              </a:rPr>
              <a:t>Our simulator covers page faults and page replacement. TLB and copy-on-write are explained, not simulated.</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D"/>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1B2A49"/>
                </a:solidFill>
              </a:rPr>
              <a:t>System design</a:t>
            </a:r>
            <a:endParaRPr lang="en-US" sz="3200" dirty="0"/>
          </a:p>
        </p:txBody>
      </p:sp>
      <p:sp>
        <p:nvSpPr>
          <p:cNvPr id="4" name="Shape 1"/>
          <p:cNvSpPr/>
          <p:nvPr/>
        </p:nvSpPr>
        <p:spPr>
          <a:xfrm>
            <a:off x="457200" y="1371600"/>
            <a:ext cx="1463040" cy="1554480"/>
          </a:xfrm>
          <a:prstGeom prst="roundRect">
            <a:avLst>
              <a:gd name="adj" fmla="val 5000"/>
            </a:avLst>
          </a:prstGeom>
          <a:solidFill>
            <a:srgbClr val="EEF3F8"/>
          </a:solidFill>
          <a:ln w="9525">
            <a:solidFill>
              <a:srgbClr val="D3DBE6"/>
            </a:solidFill>
            <a:prstDash val="solid"/>
          </a:ln>
        </p:spPr>
      </p:sp>
      <p:sp>
        <p:nvSpPr>
          <p:cNvPr id="5" name="Text 2"/>
          <p:cNvSpPr txBox="1"/>
          <p:nvPr/>
        </p:nvSpPr>
        <p:spPr>
          <a:xfrm>
            <a:off x="548640" y="1463040"/>
            <a:ext cx="1280160" cy="640080"/>
          </a:xfrm>
          <a:prstGeom prst="rect">
            <a:avLst/>
          </a:prstGeom>
          <a:noFill/>
          <a:ln/>
        </p:spPr>
        <p:txBody>
          <a:bodyPr wrap="square" lIns="0" tIns="0" rIns="0" bIns="0" rtlCol="0" anchor="t"/>
          <a:lstStyle/>
          <a:p>
            <a:pPr indent="0" marL="0">
              <a:buNone/>
            </a:pPr>
            <a:r>
              <a:rPr lang="en-US" sz="1500" b="1" dirty="0">
                <a:solidFill>
                  <a:srgbClr val="1B2A49"/>
                </a:solidFill>
                <a:latin typeface="Calibri" pitchFamily="34" charset="0"/>
                <a:ea typeface="Calibri" pitchFamily="34" charset="-122"/>
                <a:cs typeface="Calibri" pitchFamily="34" charset="-120"/>
              </a:rPr>
              <a:t>Input panel</a:t>
            </a:r>
            <a:endParaRPr lang="en-US" sz="1500" dirty="0"/>
          </a:p>
        </p:txBody>
      </p:sp>
      <p:sp>
        <p:nvSpPr>
          <p:cNvPr id="6" name="Text 3"/>
          <p:cNvSpPr txBox="1"/>
          <p:nvPr/>
        </p:nvSpPr>
        <p:spPr>
          <a:xfrm>
            <a:off x="548640" y="2103120"/>
            <a:ext cx="1280160" cy="731520"/>
          </a:xfrm>
          <a:prstGeom prst="rect">
            <a:avLst/>
          </a:prstGeom>
          <a:noFill/>
          <a:ln/>
        </p:spPr>
        <p:txBody>
          <a:bodyPr wrap="square" lIns="0" tIns="0" rIns="0" bIns="0" rtlCol="0" anchor="t"/>
          <a:lstStyle/>
          <a:p>
            <a:pPr indent="0" marL="0">
              <a:buNone/>
            </a:pPr>
            <a:r>
              <a:rPr lang="en-US" sz="1200" dirty="0">
                <a:solidFill>
                  <a:srgbClr val="5B6B7D"/>
                </a:solidFill>
                <a:latin typeface="Calibri" pitchFamily="34" charset="0"/>
                <a:ea typeface="Calibri" pitchFamily="34" charset="-122"/>
                <a:cs typeface="Calibri" pitchFamily="34" charset="-120"/>
              </a:rPr>
              <a:t>string, frames, algorithm</a:t>
            </a:r>
            <a:endParaRPr lang="en-US" sz="1200" dirty="0"/>
          </a:p>
        </p:txBody>
      </p:sp>
      <p:sp>
        <p:nvSpPr>
          <p:cNvPr id="7" name="Shape 4"/>
          <p:cNvSpPr/>
          <p:nvPr/>
        </p:nvSpPr>
        <p:spPr>
          <a:xfrm>
            <a:off x="1938528" y="2011680"/>
            <a:ext cx="182880" cy="274320"/>
          </a:xfrm>
          <a:prstGeom prst="rightArrow">
            <a:avLst/>
          </a:prstGeom>
          <a:solidFill>
            <a:srgbClr val="5B6B7D"/>
          </a:solidFill>
          <a:ln w="12700">
            <a:solidFill>
              <a:srgbClr val="5B6B7D"/>
            </a:solidFill>
            <a:prstDash val="solid"/>
          </a:ln>
        </p:spPr>
      </p:sp>
      <p:sp>
        <p:nvSpPr>
          <p:cNvPr id="8" name="Shape 5"/>
          <p:cNvSpPr/>
          <p:nvPr/>
        </p:nvSpPr>
        <p:spPr>
          <a:xfrm>
            <a:off x="2148840" y="1371600"/>
            <a:ext cx="1463040" cy="1554480"/>
          </a:xfrm>
          <a:prstGeom prst="roundRect">
            <a:avLst>
              <a:gd name="adj" fmla="val 5000"/>
            </a:avLst>
          </a:prstGeom>
          <a:solidFill>
            <a:srgbClr val="DDF0F0"/>
          </a:solidFill>
          <a:ln w="9525">
            <a:solidFill>
              <a:srgbClr val="D3DBE6"/>
            </a:solidFill>
            <a:prstDash val="solid"/>
          </a:ln>
        </p:spPr>
      </p:sp>
      <p:sp>
        <p:nvSpPr>
          <p:cNvPr id="9" name="Text 6"/>
          <p:cNvSpPr txBox="1"/>
          <p:nvPr/>
        </p:nvSpPr>
        <p:spPr>
          <a:xfrm>
            <a:off x="2240280" y="1463040"/>
            <a:ext cx="1280160" cy="640080"/>
          </a:xfrm>
          <a:prstGeom prst="rect">
            <a:avLst/>
          </a:prstGeom>
          <a:noFill/>
          <a:ln/>
        </p:spPr>
        <p:txBody>
          <a:bodyPr wrap="square" lIns="0" tIns="0" rIns="0" bIns="0" rtlCol="0" anchor="t"/>
          <a:lstStyle/>
          <a:p>
            <a:pPr indent="0" marL="0">
              <a:buNone/>
            </a:pPr>
            <a:r>
              <a:rPr lang="en-US" sz="1500" b="1" dirty="0">
                <a:solidFill>
                  <a:srgbClr val="0F8B8D"/>
                </a:solidFill>
                <a:latin typeface="Calibri" pitchFamily="34" charset="0"/>
                <a:ea typeface="Calibri" pitchFamily="34" charset="-122"/>
                <a:cs typeface="Calibri" pitchFamily="34" charset="-120"/>
              </a:rPr>
              <a:t>Algorithm engine</a:t>
            </a:r>
            <a:endParaRPr lang="en-US" sz="1500" dirty="0"/>
          </a:p>
        </p:txBody>
      </p:sp>
      <p:sp>
        <p:nvSpPr>
          <p:cNvPr id="10" name="Text 7"/>
          <p:cNvSpPr txBox="1"/>
          <p:nvPr/>
        </p:nvSpPr>
        <p:spPr>
          <a:xfrm>
            <a:off x="2240280" y="2103120"/>
            <a:ext cx="1280160" cy="731520"/>
          </a:xfrm>
          <a:prstGeom prst="rect">
            <a:avLst/>
          </a:prstGeom>
          <a:noFill/>
          <a:ln/>
        </p:spPr>
        <p:txBody>
          <a:bodyPr wrap="square" lIns="0" tIns="0" rIns="0" bIns="0" rtlCol="0" anchor="t"/>
          <a:lstStyle/>
          <a:p>
            <a:pPr indent="0" marL="0">
              <a:buNone/>
            </a:pPr>
            <a:r>
              <a:rPr lang="en-US" sz="1200" dirty="0">
                <a:solidFill>
                  <a:srgbClr val="5B6B7D"/>
                </a:solidFill>
                <a:latin typeface="Calibri" pitchFamily="34" charset="0"/>
                <a:ea typeface="Calibri" pitchFamily="34" charset="-122"/>
                <a:cs typeface="Calibri" pitchFamily="34" charset="-120"/>
              </a:rPr>
              <a:t>FIFO, LRU, Optimal, Clock</a:t>
            </a:r>
            <a:endParaRPr lang="en-US" sz="1200" dirty="0"/>
          </a:p>
        </p:txBody>
      </p:sp>
      <p:sp>
        <p:nvSpPr>
          <p:cNvPr id="11" name="Shape 8"/>
          <p:cNvSpPr/>
          <p:nvPr/>
        </p:nvSpPr>
        <p:spPr>
          <a:xfrm>
            <a:off x="3630168" y="2011680"/>
            <a:ext cx="182880" cy="274320"/>
          </a:xfrm>
          <a:prstGeom prst="rightArrow">
            <a:avLst/>
          </a:prstGeom>
          <a:solidFill>
            <a:srgbClr val="5B6B7D"/>
          </a:solidFill>
          <a:ln w="12700">
            <a:solidFill>
              <a:srgbClr val="5B6B7D"/>
            </a:solidFill>
            <a:prstDash val="solid"/>
          </a:ln>
        </p:spPr>
      </p:sp>
      <p:sp>
        <p:nvSpPr>
          <p:cNvPr id="12" name="Shape 9"/>
          <p:cNvSpPr/>
          <p:nvPr/>
        </p:nvSpPr>
        <p:spPr>
          <a:xfrm>
            <a:off x="3840480" y="1371600"/>
            <a:ext cx="1463040" cy="1554480"/>
          </a:xfrm>
          <a:prstGeom prst="roundRect">
            <a:avLst>
              <a:gd name="adj" fmla="val 5000"/>
            </a:avLst>
          </a:prstGeom>
          <a:solidFill>
            <a:srgbClr val="EEF3F8"/>
          </a:solidFill>
          <a:ln w="9525">
            <a:solidFill>
              <a:srgbClr val="D3DBE6"/>
            </a:solidFill>
            <a:prstDash val="solid"/>
          </a:ln>
        </p:spPr>
      </p:sp>
      <p:sp>
        <p:nvSpPr>
          <p:cNvPr id="13" name="Text 10"/>
          <p:cNvSpPr txBox="1"/>
          <p:nvPr/>
        </p:nvSpPr>
        <p:spPr>
          <a:xfrm>
            <a:off x="3931920" y="1463040"/>
            <a:ext cx="1280160" cy="640080"/>
          </a:xfrm>
          <a:prstGeom prst="rect">
            <a:avLst/>
          </a:prstGeom>
          <a:noFill/>
          <a:ln/>
        </p:spPr>
        <p:txBody>
          <a:bodyPr wrap="square" lIns="0" tIns="0" rIns="0" bIns="0" rtlCol="0" anchor="t"/>
          <a:lstStyle/>
          <a:p>
            <a:pPr indent="0" marL="0">
              <a:buNone/>
            </a:pPr>
            <a:r>
              <a:rPr lang="en-US" sz="1500" b="1" dirty="0">
                <a:solidFill>
                  <a:srgbClr val="1B2A49"/>
                </a:solidFill>
                <a:latin typeface="Calibri" pitchFamily="34" charset="0"/>
                <a:ea typeface="Calibri" pitchFamily="34" charset="-122"/>
                <a:cs typeface="Calibri" pitchFamily="34" charset="-120"/>
              </a:rPr>
              <a:t>Trace</a:t>
            </a:r>
            <a:endParaRPr lang="en-US" sz="1500" dirty="0"/>
          </a:p>
        </p:txBody>
      </p:sp>
      <p:sp>
        <p:nvSpPr>
          <p:cNvPr id="14" name="Text 11"/>
          <p:cNvSpPr txBox="1"/>
          <p:nvPr/>
        </p:nvSpPr>
        <p:spPr>
          <a:xfrm>
            <a:off x="3931920" y="2103120"/>
            <a:ext cx="1280160" cy="731520"/>
          </a:xfrm>
          <a:prstGeom prst="rect">
            <a:avLst/>
          </a:prstGeom>
          <a:noFill/>
          <a:ln/>
        </p:spPr>
        <p:txBody>
          <a:bodyPr wrap="square" lIns="0" tIns="0" rIns="0" bIns="0" rtlCol="0" anchor="t"/>
          <a:lstStyle/>
          <a:p>
            <a:pPr indent="0" marL="0">
              <a:buNone/>
            </a:pPr>
            <a:r>
              <a:rPr lang="en-US" sz="1200" dirty="0">
                <a:solidFill>
                  <a:srgbClr val="5B6B7D"/>
                </a:solidFill>
                <a:latin typeface="Calibri" pitchFamily="34" charset="0"/>
                <a:ea typeface="Calibri" pitchFamily="34" charset="-122"/>
                <a:cs typeface="Calibri" pitchFamily="34" charset="-120"/>
              </a:rPr>
              <a:t>one record per reference</a:t>
            </a:r>
            <a:endParaRPr lang="en-US" sz="1200" dirty="0"/>
          </a:p>
        </p:txBody>
      </p:sp>
      <p:sp>
        <p:nvSpPr>
          <p:cNvPr id="15" name="Shape 12"/>
          <p:cNvSpPr/>
          <p:nvPr/>
        </p:nvSpPr>
        <p:spPr>
          <a:xfrm>
            <a:off x="5321808" y="2011680"/>
            <a:ext cx="182880" cy="274320"/>
          </a:xfrm>
          <a:prstGeom prst="rightArrow">
            <a:avLst/>
          </a:prstGeom>
          <a:solidFill>
            <a:srgbClr val="5B6B7D"/>
          </a:solidFill>
          <a:ln w="12700">
            <a:solidFill>
              <a:srgbClr val="5B6B7D"/>
            </a:solidFill>
            <a:prstDash val="solid"/>
          </a:ln>
        </p:spPr>
      </p:sp>
      <p:sp>
        <p:nvSpPr>
          <p:cNvPr id="16" name="Shape 13"/>
          <p:cNvSpPr/>
          <p:nvPr/>
        </p:nvSpPr>
        <p:spPr>
          <a:xfrm>
            <a:off x="5532120" y="1371600"/>
            <a:ext cx="1463040" cy="1554480"/>
          </a:xfrm>
          <a:prstGeom prst="roundRect">
            <a:avLst>
              <a:gd name="adj" fmla="val 5000"/>
            </a:avLst>
          </a:prstGeom>
          <a:solidFill>
            <a:srgbClr val="EEF3F8"/>
          </a:solidFill>
          <a:ln w="9525">
            <a:solidFill>
              <a:srgbClr val="D3DBE6"/>
            </a:solidFill>
            <a:prstDash val="solid"/>
          </a:ln>
        </p:spPr>
      </p:sp>
      <p:sp>
        <p:nvSpPr>
          <p:cNvPr id="17" name="Text 14"/>
          <p:cNvSpPr txBox="1"/>
          <p:nvPr/>
        </p:nvSpPr>
        <p:spPr>
          <a:xfrm>
            <a:off x="5623560" y="1463040"/>
            <a:ext cx="1280160" cy="640080"/>
          </a:xfrm>
          <a:prstGeom prst="rect">
            <a:avLst/>
          </a:prstGeom>
          <a:noFill/>
          <a:ln/>
        </p:spPr>
        <p:txBody>
          <a:bodyPr wrap="square" lIns="0" tIns="0" rIns="0" bIns="0" rtlCol="0" anchor="t"/>
          <a:lstStyle/>
          <a:p>
            <a:pPr indent="0" marL="0">
              <a:buNone/>
            </a:pPr>
            <a:r>
              <a:rPr lang="en-US" sz="1500" b="1" dirty="0">
                <a:solidFill>
                  <a:srgbClr val="1B2A49"/>
                </a:solidFill>
                <a:latin typeface="Calibri" pitchFamily="34" charset="0"/>
                <a:ea typeface="Calibri" pitchFamily="34" charset="-122"/>
                <a:cs typeface="Calibri" pitchFamily="34" charset="-120"/>
              </a:rPr>
              <a:t>Player and view</a:t>
            </a:r>
            <a:endParaRPr lang="en-US" sz="1500" dirty="0"/>
          </a:p>
        </p:txBody>
      </p:sp>
      <p:sp>
        <p:nvSpPr>
          <p:cNvPr id="18" name="Text 15"/>
          <p:cNvSpPr txBox="1"/>
          <p:nvPr/>
        </p:nvSpPr>
        <p:spPr>
          <a:xfrm>
            <a:off x="5623560" y="2103120"/>
            <a:ext cx="1280160" cy="731520"/>
          </a:xfrm>
          <a:prstGeom prst="rect">
            <a:avLst/>
          </a:prstGeom>
          <a:noFill/>
          <a:ln/>
        </p:spPr>
        <p:txBody>
          <a:bodyPr wrap="square" lIns="0" tIns="0" rIns="0" bIns="0" rtlCol="0" anchor="t"/>
          <a:lstStyle/>
          <a:p>
            <a:pPr indent="0" marL="0">
              <a:buNone/>
            </a:pPr>
            <a:r>
              <a:rPr lang="en-US" sz="1200" dirty="0">
                <a:solidFill>
                  <a:srgbClr val="5B6B7D"/>
                </a:solidFill>
                <a:latin typeface="Calibri" pitchFamily="34" charset="0"/>
                <a:ea typeface="Calibri" pitchFamily="34" charset="-122"/>
                <a:cs typeface="Calibri" pitchFamily="34" charset="-120"/>
              </a:rPr>
              <a:t>frames, table, controls</a:t>
            </a:r>
            <a:endParaRPr lang="en-US" sz="1200" dirty="0"/>
          </a:p>
        </p:txBody>
      </p:sp>
      <p:sp>
        <p:nvSpPr>
          <p:cNvPr id="19" name="Shape 16"/>
          <p:cNvSpPr/>
          <p:nvPr/>
        </p:nvSpPr>
        <p:spPr>
          <a:xfrm>
            <a:off x="7013448" y="2011680"/>
            <a:ext cx="182880" cy="274320"/>
          </a:xfrm>
          <a:prstGeom prst="rightArrow">
            <a:avLst/>
          </a:prstGeom>
          <a:solidFill>
            <a:srgbClr val="5B6B7D"/>
          </a:solidFill>
          <a:ln w="12700">
            <a:solidFill>
              <a:srgbClr val="5B6B7D"/>
            </a:solidFill>
            <a:prstDash val="solid"/>
          </a:ln>
        </p:spPr>
      </p:sp>
      <p:sp>
        <p:nvSpPr>
          <p:cNvPr id="20" name="Shape 17"/>
          <p:cNvSpPr/>
          <p:nvPr/>
        </p:nvSpPr>
        <p:spPr>
          <a:xfrm>
            <a:off x="7223760" y="1371600"/>
            <a:ext cx="1463040" cy="1554480"/>
          </a:xfrm>
          <a:prstGeom prst="roundRect">
            <a:avLst>
              <a:gd name="adj" fmla="val 5000"/>
            </a:avLst>
          </a:prstGeom>
          <a:solidFill>
            <a:srgbClr val="EEF3F8"/>
          </a:solidFill>
          <a:ln w="9525">
            <a:solidFill>
              <a:srgbClr val="D3DBE6"/>
            </a:solidFill>
            <a:prstDash val="solid"/>
          </a:ln>
        </p:spPr>
      </p:sp>
      <p:sp>
        <p:nvSpPr>
          <p:cNvPr id="21" name="Text 18"/>
          <p:cNvSpPr txBox="1"/>
          <p:nvPr/>
        </p:nvSpPr>
        <p:spPr>
          <a:xfrm>
            <a:off x="7315200" y="1463040"/>
            <a:ext cx="1280160" cy="640080"/>
          </a:xfrm>
          <a:prstGeom prst="rect">
            <a:avLst/>
          </a:prstGeom>
          <a:noFill/>
          <a:ln/>
        </p:spPr>
        <p:txBody>
          <a:bodyPr wrap="square" lIns="0" tIns="0" rIns="0" bIns="0" rtlCol="0" anchor="t"/>
          <a:lstStyle/>
          <a:p>
            <a:pPr indent="0" marL="0">
              <a:buNone/>
            </a:pPr>
            <a:r>
              <a:rPr lang="en-US" sz="1500" b="1" dirty="0">
                <a:solidFill>
                  <a:srgbClr val="1B2A49"/>
                </a:solidFill>
                <a:latin typeface="Calibri" pitchFamily="34" charset="0"/>
                <a:ea typeface="Calibri" pitchFamily="34" charset="-122"/>
                <a:cs typeface="Calibri" pitchFamily="34" charset="-120"/>
              </a:rPr>
              <a:t>Stats and chart</a:t>
            </a:r>
            <a:endParaRPr lang="en-US" sz="1500" dirty="0"/>
          </a:p>
        </p:txBody>
      </p:sp>
      <p:sp>
        <p:nvSpPr>
          <p:cNvPr id="22" name="Text 19"/>
          <p:cNvSpPr txBox="1"/>
          <p:nvPr/>
        </p:nvSpPr>
        <p:spPr>
          <a:xfrm>
            <a:off x="7315200" y="2103120"/>
            <a:ext cx="1280160" cy="731520"/>
          </a:xfrm>
          <a:prstGeom prst="rect">
            <a:avLst/>
          </a:prstGeom>
          <a:noFill/>
          <a:ln/>
        </p:spPr>
        <p:txBody>
          <a:bodyPr wrap="square" lIns="0" tIns="0" rIns="0" bIns="0" rtlCol="0" anchor="t"/>
          <a:lstStyle/>
          <a:p>
            <a:pPr indent="0" marL="0">
              <a:buNone/>
            </a:pPr>
            <a:r>
              <a:rPr lang="en-US" sz="1200" dirty="0">
                <a:solidFill>
                  <a:srgbClr val="5B6B7D"/>
                </a:solidFill>
                <a:latin typeface="Calibri" pitchFamily="34" charset="0"/>
                <a:ea typeface="Calibri" pitchFamily="34" charset="-122"/>
                <a:cs typeface="Calibri" pitchFamily="34" charset="-120"/>
              </a:rPr>
              <a:t>faults, ratios, bars</a:t>
            </a:r>
            <a:endParaRPr lang="en-US" sz="1200" dirty="0"/>
          </a:p>
        </p:txBody>
      </p:sp>
      <p:sp>
        <p:nvSpPr>
          <p:cNvPr id="23" name="Shape 20"/>
          <p:cNvSpPr/>
          <p:nvPr/>
        </p:nvSpPr>
        <p:spPr>
          <a:xfrm>
            <a:off x="457200" y="3291840"/>
            <a:ext cx="8229600" cy="1234440"/>
          </a:xfrm>
          <a:prstGeom prst="roundRect">
            <a:avLst>
              <a:gd name="adj" fmla="val 5926"/>
            </a:avLst>
          </a:prstGeom>
          <a:solidFill>
            <a:srgbClr val="FFFFFF"/>
          </a:solidFill>
          <a:ln w="9525">
            <a:solidFill>
              <a:srgbClr val="D3DBE6"/>
            </a:solidFill>
            <a:prstDash val="solid"/>
          </a:ln>
        </p:spPr>
      </p:sp>
      <p:sp>
        <p:nvSpPr>
          <p:cNvPr id="24" name="Text 21"/>
          <p:cNvSpPr txBox="1"/>
          <p:nvPr/>
        </p:nvSpPr>
        <p:spPr>
          <a:xfrm>
            <a:off x="640080" y="3383280"/>
            <a:ext cx="2743200" cy="274320"/>
          </a:xfrm>
          <a:prstGeom prst="rect">
            <a:avLst/>
          </a:prstGeom>
          <a:noFill/>
          <a:ln/>
        </p:spPr>
        <p:txBody>
          <a:bodyPr wrap="square" lIns="0" tIns="0" rIns="0" bIns="0" rtlCol="0" anchor="t"/>
          <a:lstStyle/>
          <a:p>
            <a:pPr indent="0" marL="0">
              <a:buNone/>
            </a:pPr>
            <a:r>
              <a:rPr lang="en-US" sz="1400" b="1" dirty="0">
                <a:solidFill>
                  <a:srgbClr val="0F8B8D"/>
                </a:solidFill>
                <a:latin typeface="Calibri" pitchFamily="34" charset="0"/>
                <a:ea typeface="Calibri" pitchFamily="34" charset="-122"/>
                <a:cs typeface="Calibri" pitchFamily="34" charset="-120"/>
              </a:rPr>
              <a:t>Trace record</a:t>
            </a:r>
            <a:endParaRPr lang="en-US" sz="1400" dirty="0"/>
          </a:p>
        </p:txBody>
      </p:sp>
      <p:sp>
        <p:nvSpPr>
          <p:cNvPr id="25" name="Text 22"/>
          <p:cNvSpPr txBox="1"/>
          <p:nvPr/>
        </p:nvSpPr>
        <p:spPr>
          <a:xfrm>
            <a:off x="640080" y="3703320"/>
            <a:ext cx="7863840" cy="320040"/>
          </a:xfrm>
          <a:prstGeom prst="rect">
            <a:avLst/>
          </a:prstGeom>
          <a:noFill/>
          <a:ln/>
        </p:spPr>
        <p:txBody>
          <a:bodyPr wrap="square" lIns="0" tIns="0" rIns="0" bIns="0" rtlCol="0" anchor="t"/>
          <a:lstStyle/>
          <a:p>
            <a:pPr indent="0" marL="0">
              <a:buNone/>
            </a:pPr>
            <a:r>
              <a:rPr lang="en-US" sz="1400" dirty="0">
                <a:solidFill>
                  <a:srgbClr val="1B2A49"/>
                </a:solidFill>
                <a:latin typeface="Courier New" pitchFamily="34" charset="0"/>
                <a:ea typeface="Courier New" pitchFamily="34" charset="-122"/>
                <a:cs typeface="Courier New" pitchFamily="34" charset="-120"/>
              </a:rPr>
              <a:t>{ step, page, frames[], hit, evicted, explanation }</a:t>
            </a:r>
            <a:endParaRPr lang="en-US" sz="1400" dirty="0"/>
          </a:p>
        </p:txBody>
      </p:sp>
      <p:sp>
        <p:nvSpPr>
          <p:cNvPr id="26" name="Text 23"/>
          <p:cNvSpPr txBox="1"/>
          <p:nvPr/>
        </p:nvSpPr>
        <p:spPr>
          <a:xfrm>
            <a:off x="640080" y="4114800"/>
            <a:ext cx="7863840" cy="320040"/>
          </a:xfrm>
          <a:prstGeom prst="rect">
            <a:avLst/>
          </a:prstGeom>
          <a:noFill/>
          <a:ln/>
        </p:spPr>
        <p:txBody>
          <a:bodyPr wrap="square" lIns="0" tIns="0" rIns="0" bIns="0" rtlCol="0" anchor="t"/>
          <a:lstStyle/>
          <a:p>
            <a:pPr indent="0" marL="0">
              <a:buNone/>
            </a:pPr>
            <a:r>
              <a:rPr lang="en-US" sz="1400" dirty="0">
                <a:solidFill>
                  <a:srgbClr val="5B6B7D"/>
                </a:solidFill>
                <a:latin typeface="Calibri" pitchFamily="34" charset="0"/>
                <a:ea typeface="Calibri" pitchFamily="34" charset="-122"/>
                <a:cs typeface="Calibri" pitchFamily="34" charset="-120"/>
              </a:rPr>
              <a:t>Same shape for all four, so one UI shows them. Clock adds bits[] and hand.</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D"/>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1B2A49"/>
                </a:solidFill>
              </a:rPr>
              <a:t>Core ideas</a:t>
            </a:r>
            <a:endParaRPr lang="en-US" sz="3200" dirty="0"/>
          </a:p>
        </p:txBody>
      </p:sp>
      <p:sp>
        <p:nvSpPr>
          <p:cNvPr id="4" name="Text 1"/>
          <p:cNvSpPr txBox="1"/>
          <p:nvPr/>
        </p:nvSpPr>
        <p:spPr>
          <a:xfrm>
            <a:off x="457200" y="1143000"/>
            <a:ext cx="2743200" cy="274320"/>
          </a:xfrm>
          <a:prstGeom prst="rect">
            <a:avLst/>
          </a:prstGeom>
          <a:noFill/>
          <a:ln/>
        </p:spPr>
        <p:txBody>
          <a:bodyPr wrap="square" lIns="0" tIns="0" rIns="0" bIns="0" rtlCol="0" anchor="t"/>
          <a:lstStyle/>
          <a:p>
            <a:pPr indent="0" marL="0">
              <a:buNone/>
            </a:pPr>
            <a:r>
              <a:rPr lang="en-US" sz="1200" dirty="0">
                <a:solidFill>
                  <a:srgbClr val="5B6B7D"/>
                </a:solidFill>
                <a:latin typeface="Calibri" pitchFamily="34" charset="0"/>
                <a:ea typeface="Calibri" pitchFamily="34" charset="-122"/>
                <a:cs typeface="Calibri" pitchFamily="34" charset="-120"/>
              </a:rPr>
              <a:t>Reference string</a:t>
            </a:r>
            <a:endParaRPr lang="en-US" sz="1200" dirty="0"/>
          </a:p>
        </p:txBody>
      </p:sp>
      <p:sp>
        <p:nvSpPr>
          <p:cNvPr id="5" name="Text 2"/>
          <p:cNvSpPr txBox="1"/>
          <p:nvPr/>
        </p:nvSpPr>
        <p:spPr>
          <a:xfrm>
            <a:off x="457200" y="1417320"/>
            <a:ext cx="457200" cy="365760"/>
          </a:xfrm>
          <a:prstGeom prst="rect">
            <a:avLst/>
          </a:prstGeom>
          <a:noFill/>
          <a:ln/>
        </p:spPr>
        <p:txBody>
          <a:bodyPr wrap="square" lIns="0" tIns="0" rIns="0" bIns="0" rtlCol="0" anchor="t"/>
          <a:lstStyle/>
          <a:p>
            <a:pPr algn="ctr" indent="0" marL="0">
              <a:buNone/>
            </a:pPr>
            <a:r>
              <a:rPr lang="en-US" sz="2000" b="1" dirty="0">
                <a:solidFill>
                  <a:srgbClr val="1B2A49"/>
                </a:solidFill>
                <a:latin typeface="Calibri" pitchFamily="34" charset="0"/>
                <a:ea typeface="Calibri" pitchFamily="34" charset="-122"/>
                <a:cs typeface="Calibri" pitchFamily="34" charset="-120"/>
              </a:rPr>
              <a:t>7</a:t>
            </a:r>
            <a:endParaRPr lang="en-US" sz="2000" dirty="0"/>
          </a:p>
        </p:txBody>
      </p:sp>
      <p:sp>
        <p:nvSpPr>
          <p:cNvPr id="6" name="Text 3"/>
          <p:cNvSpPr txBox="1"/>
          <p:nvPr/>
        </p:nvSpPr>
        <p:spPr>
          <a:xfrm>
            <a:off x="960120" y="1417320"/>
            <a:ext cx="457200" cy="365760"/>
          </a:xfrm>
          <a:prstGeom prst="rect">
            <a:avLst/>
          </a:prstGeom>
          <a:noFill/>
          <a:ln/>
        </p:spPr>
        <p:txBody>
          <a:bodyPr wrap="square" lIns="0" tIns="0" rIns="0" bIns="0" rtlCol="0" anchor="t"/>
          <a:lstStyle/>
          <a:p>
            <a:pPr algn="ctr" indent="0" marL="0">
              <a:buNone/>
            </a:pPr>
            <a:r>
              <a:rPr lang="en-US" sz="2000" b="1" dirty="0">
                <a:solidFill>
                  <a:srgbClr val="1B2A49"/>
                </a:solidFill>
                <a:latin typeface="Calibri" pitchFamily="34" charset="0"/>
                <a:ea typeface="Calibri" pitchFamily="34" charset="-122"/>
                <a:cs typeface="Calibri" pitchFamily="34" charset="-120"/>
              </a:rPr>
              <a:t>0</a:t>
            </a:r>
            <a:endParaRPr lang="en-US" sz="2000" dirty="0"/>
          </a:p>
        </p:txBody>
      </p:sp>
      <p:sp>
        <p:nvSpPr>
          <p:cNvPr id="7" name="Text 4"/>
          <p:cNvSpPr txBox="1"/>
          <p:nvPr/>
        </p:nvSpPr>
        <p:spPr>
          <a:xfrm>
            <a:off x="1463040" y="1417320"/>
            <a:ext cx="457200" cy="365760"/>
          </a:xfrm>
          <a:prstGeom prst="rect">
            <a:avLst/>
          </a:prstGeom>
          <a:noFill/>
          <a:ln/>
        </p:spPr>
        <p:txBody>
          <a:bodyPr wrap="square" lIns="0" tIns="0" rIns="0" bIns="0" rtlCol="0" anchor="t"/>
          <a:lstStyle/>
          <a:p>
            <a:pPr algn="ctr" indent="0" marL="0">
              <a:buNone/>
            </a:pPr>
            <a:r>
              <a:rPr lang="en-US" sz="2000" b="1" dirty="0">
                <a:solidFill>
                  <a:srgbClr val="1B2A49"/>
                </a:solidFill>
                <a:latin typeface="Calibri" pitchFamily="34" charset="0"/>
                <a:ea typeface="Calibri" pitchFamily="34" charset="-122"/>
                <a:cs typeface="Calibri" pitchFamily="34" charset="-120"/>
              </a:rPr>
              <a:t>1</a:t>
            </a:r>
            <a:endParaRPr lang="en-US" sz="2000" dirty="0"/>
          </a:p>
        </p:txBody>
      </p:sp>
      <p:sp>
        <p:nvSpPr>
          <p:cNvPr id="8" name="Text 5"/>
          <p:cNvSpPr txBox="1"/>
          <p:nvPr/>
        </p:nvSpPr>
        <p:spPr>
          <a:xfrm>
            <a:off x="1965960" y="1417320"/>
            <a:ext cx="457200" cy="365760"/>
          </a:xfrm>
          <a:prstGeom prst="rect">
            <a:avLst/>
          </a:prstGeom>
          <a:noFill/>
          <a:ln/>
        </p:spPr>
        <p:txBody>
          <a:bodyPr wrap="square" lIns="0" tIns="0" rIns="0" bIns="0" rtlCol="0" anchor="t"/>
          <a:lstStyle/>
          <a:p>
            <a:pPr algn="ctr" indent="0" marL="0">
              <a:buNone/>
            </a:pPr>
            <a:r>
              <a:rPr lang="en-US" sz="2000" b="1" dirty="0">
                <a:solidFill>
                  <a:srgbClr val="1B2A49"/>
                </a:solidFill>
                <a:latin typeface="Calibri" pitchFamily="34" charset="0"/>
                <a:ea typeface="Calibri" pitchFamily="34" charset="-122"/>
                <a:cs typeface="Calibri" pitchFamily="34" charset="-120"/>
              </a:rPr>
              <a:t>2</a:t>
            </a:r>
            <a:endParaRPr lang="en-US" sz="2000" dirty="0"/>
          </a:p>
        </p:txBody>
      </p:sp>
      <p:sp>
        <p:nvSpPr>
          <p:cNvPr id="9" name="Text 6"/>
          <p:cNvSpPr txBox="1"/>
          <p:nvPr/>
        </p:nvSpPr>
        <p:spPr>
          <a:xfrm>
            <a:off x="2468880" y="1417320"/>
            <a:ext cx="457200" cy="365760"/>
          </a:xfrm>
          <a:prstGeom prst="rect">
            <a:avLst/>
          </a:prstGeom>
          <a:noFill/>
          <a:ln/>
        </p:spPr>
        <p:txBody>
          <a:bodyPr wrap="square" lIns="0" tIns="0" rIns="0" bIns="0" rtlCol="0" anchor="t"/>
          <a:lstStyle/>
          <a:p>
            <a:pPr algn="ctr" indent="0" marL="0">
              <a:buNone/>
            </a:pPr>
            <a:r>
              <a:rPr lang="en-US" sz="2000" b="1" dirty="0">
                <a:solidFill>
                  <a:srgbClr val="1B2A49"/>
                </a:solidFill>
                <a:latin typeface="Calibri" pitchFamily="34" charset="0"/>
                <a:ea typeface="Calibri" pitchFamily="34" charset="-122"/>
                <a:cs typeface="Calibri" pitchFamily="34" charset="-120"/>
              </a:rPr>
              <a:t>0</a:t>
            </a:r>
            <a:endParaRPr lang="en-US" sz="2000" dirty="0"/>
          </a:p>
        </p:txBody>
      </p:sp>
      <p:sp>
        <p:nvSpPr>
          <p:cNvPr id="10" name="Text 7"/>
          <p:cNvSpPr txBox="1"/>
          <p:nvPr/>
        </p:nvSpPr>
        <p:spPr>
          <a:xfrm>
            <a:off x="457200" y="1965960"/>
            <a:ext cx="3840480" cy="274320"/>
          </a:xfrm>
          <a:prstGeom prst="rect">
            <a:avLst/>
          </a:prstGeom>
          <a:noFill/>
          <a:ln/>
        </p:spPr>
        <p:txBody>
          <a:bodyPr wrap="square" lIns="0" tIns="0" rIns="0" bIns="0" rtlCol="0" anchor="t"/>
          <a:lstStyle/>
          <a:p>
            <a:pPr indent="0" marL="0">
              <a:buNone/>
            </a:pPr>
            <a:r>
              <a:rPr lang="en-US" sz="1200" dirty="0">
                <a:solidFill>
                  <a:srgbClr val="5B6B7D"/>
                </a:solidFill>
                <a:latin typeface="Calibri" pitchFamily="34" charset="0"/>
                <a:ea typeface="Calibri" pitchFamily="34" charset="-122"/>
                <a:cs typeface="Calibri" pitchFamily="34" charset="-120"/>
              </a:rPr>
              <a:t>3 frames after page 2 (a fault, 7 evicted)</a:t>
            </a:r>
            <a:endParaRPr lang="en-US" sz="1200" dirty="0"/>
          </a:p>
        </p:txBody>
      </p:sp>
      <p:sp>
        <p:nvSpPr>
          <p:cNvPr id="11" name="Shape 8"/>
          <p:cNvSpPr/>
          <p:nvPr/>
        </p:nvSpPr>
        <p:spPr>
          <a:xfrm>
            <a:off x="457200" y="2286000"/>
            <a:ext cx="731520" cy="731520"/>
          </a:xfrm>
          <a:prstGeom prst="roundRect">
            <a:avLst>
              <a:gd name="adj" fmla="val 8750"/>
            </a:avLst>
          </a:prstGeom>
          <a:solidFill>
            <a:srgbClr val="FFFFFF"/>
          </a:solidFill>
          <a:ln w="25400">
            <a:solidFill>
              <a:srgbClr val="D64545"/>
            </a:solidFill>
            <a:prstDash val="solid"/>
          </a:ln>
        </p:spPr>
      </p:sp>
      <p:sp>
        <p:nvSpPr>
          <p:cNvPr id="12" name="Text 9"/>
          <p:cNvSpPr txBox="1"/>
          <p:nvPr/>
        </p:nvSpPr>
        <p:spPr>
          <a:xfrm>
            <a:off x="457200" y="2286000"/>
            <a:ext cx="731520" cy="731520"/>
          </a:xfrm>
          <a:prstGeom prst="rect">
            <a:avLst/>
          </a:prstGeom>
          <a:noFill/>
          <a:ln/>
        </p:spPr>
        <p:txBody>
          <a:bodyPr wrap="square" lIns="0" tIns="0" rIns="0" bIns="0" rtlCol="0" anchor="ctr"/>
          <a:lstStyle/>
          <a:p>
            <a:pPr algn="ctr" indent="0" marL="0">
              <a:buNone/>
            </a:pPr>
            <a:r>
              <a:rPr lang="en-US" sz="1800" b="1" dirty="0">
                <a:solidFill>
                  <a:srgbClr val="D64545"/>
                </a:solidFill>
                <a:latin typeface="Calibri" pitchFamily="34" charset="0"/>
                <a:ea typeface="Calibri" pitchFamily="34" charset="-122"/>
                <a:cs typeface="Calibri" pitchFamily="34" charset="-120"/>
              </a:rPr>
              <a:t>2</a:t>
            </a:r>
            <a:endParaRPr lang="en-US" sz="1800" dirty="0"/>
          </a:p>
        </p:txBody>
      </p:sp>
      <p:sp>
        <p:nvSpPr>
          <p:cNvPr id="13" name="Shape 10"/>
          <p:cNvSpPr/>
          <p:nvPr/>
        </p:nvSpPr>
        <p:spPr>
          <a:xfrm>
            <a:off x="1325880" y="2286000"/>
            <a:ext cx="731520" cy="731520"/>
          </a:xfrm>
          <a:prstGeom prst="roundRect">
            <a:avLst>
              <a:gd name="adj" fmla="val 8750"/>
            </a:avLst>
          </a:prstGeom>
          <a:solidFill>
            <a:srgbClr val="FFFFFF"/>
          </a:solidFill>
          <a:ln w="25400">
            <a:solidFill>
              <a:srgbClr val="D3DBE6"/>
            </a:solidFill>
            <a:prstDash val="solid"/>
          </a:ln>
        </p:spPr>
      </p:sp>
      <p:sp>
        <p:nvSpPr>
          <p:cNvPr id="14" name="Text 11"/>
          <p:cNvSpPr txBox="1"/>
          <p:nvPr/>
        </p:nvSpPr>
        <p:spPr>
          <a:xfrm>
            <a:off x="1325880" y="2286000"/>
            <a:ext cx="731520" cy="731520"/>
          </a:xfrm>
          <a:prstGeom prst="rect">
            <a:avLst/>
          </a:prstGeom>
          <a:noFill/>
          <a:ln/>
        </p:spPr>
        <p:txBody>
          <a:bodyPr wrap="square" lIns="0" tIns="0" rIns="0" bIns="0" rtlCol="0" anchor="ctr"/>
          <a:lstStyle/>
          <a:p>
            <a:pPr algn="ctr" indent="0" marL="0">
              <a:buNone/>
            </a:pPr>
            <a:r>
              <a:rPr lang="en-US" sz="1800" b="1" dirty="0">
                <a:solidFill>
                  <a:srgbClr val="1B2A49"/>
                </a:solidFill>
                <a:latin typeface="Calibri" pitchFamily="34" charset="0"/>
                <a:ea typeface="Calibri" pitchFamily="34" charset="-122"/>
                <a:cs typeface="Calibri" pitchFamily="34" charset="-120"/>
              </a:rPr>
              <a:t>0</a:t>
            </a:r>
            <a:endParaRPr lang="en-US" sz="1800" dirty="0"/>
          </a:p>
        </p:txBody>
      </p:sp>
      <p:sp>
        <p:nvSpPr>
          <p:cNvPr id="15" name="Shape 12"/>
          <p:cNvSpPr/>
          <p:nvPr/>
        </p:nvSpPr>
        <p:spPr>
          <a:xfrm>
            <a:off x="2194560" y="2286000"/>
            <a:ext cx="731520" cy="731520"/>
          </a:xfrm>
          <a:prstGeom prst="roundRect">
            <a:avLst>
              <a:gd name="adj" fmla="val 8750"/>
            </a:avLst>
          </a:prstGeom>
          <a:solidFill>
            <a:srgbClr val="FFFFFF"/>
          </a:solidFill>
          <a:ln w="25400">
            <a:solidFill>
              <a:srgbClr val="D3DBE6"/>
            </a:solidFill>
            <a:prstDash val="solid"/>
          </a:ln>
        </p:spPr>
      </p:sp>
      <p:sp>
        <p:nvSpPr>
          <p:cNvPr id="16" name="Text 13"/>
          <p:cNvSpPr txBox="1"/>
          <p:nvPr/>
        </p:nvSpPr>
        <p:spPr>
          <a:xfrm>
            <a:off x="2194560" y="2286000"/>
            <a:ext cx="731520" cy="731520"/>
          </a:xfrm>
          <a:prstGeom prst="rect">
            <a:avLst/>
          </a:prstGeom>
          <a:noFill/>
          <a:ln/>
        </p:spPr>
        <p:txBody>
          <a:bodyPr wrap="square" lIns="0" tIns="0" rIns="0" bIns="0" rtlCol="0" anchor="ctr"/>
          <a:lstStyle/>
          <a:p>
            <a:pPr algn="ctr" indent="0" marL="0">
              <a:buNone/>
            </a:pPr>
            <a:r>
              <a:rPr lang="en-US" sz="1800" b="1" dirty="0">
                <a:solidFill>
                  <a:srgbClr val="1B2A49"/>
                </a:solidFill>
                <a:latin typeface="Calibri" pitchFamily="34" charset="0"/>
                <a:ea typeface="Calibri" pitchFamily="34" charset="-122"/>
                <a:cs typeface="Calibri" pitchFamily="34" charset="-120"/>
              </a:rPr>
              <a:t>1</a:t>
            </a:r>
            <a:endParaRPr lang="en-US" sz="1800" dirty="0"/>
          </a:p>
        </p:txBody>
      </p:sp>
      <p:sp>
        <p:nvSpPr>
          <p:cNvPr id="17" name="Text 14"/>
          <p:cNvSpPr txBox="1"/>
          <p:nvPr/>
        </p:nvSpPr>
        <p:spPr>
          <a:xfrm>
            <a:off x="457200" y="3246120"/>
            <a:ext cx="3840480" cy="274320"/>
          </a:xfrm>
          <a:prstGeom prst="rect">
            <a:avLst/>
          </a:prstGeom>
          <a:noFill/>
          <a:ln/>
        </p:spPr>
        <p:txBody>
          <a:bodyPr wrap="square" lIns="0" tIns="0" rIns="0" bIns="0" rtlCol="0" anchor="t"/>
          <a:lstStyle/>
          <a:p>
            <a:pPr indent="0" marL="0">
              <a:buNone/>
            </a:pPr>
            <a:r>
              <a:rPr lang="en-US" sz="1400" b="1" dirty="0">
                <a:solidFill>
                  <a:srgbClr val="D64545"/>
                </a:solidFill>
                <a:latin typeface="Calibri" pitchFamily="34" charset="0"/>
                <a:ea typeface="Calibri" pitchFamily="34" charset="-122"/>
                <a:cs typeface="Calibri" pitchFamily="34" charset="-120"/>
              </a:rPr>
              <a:t>Fault  </a:t>
            </a:r>
            <a:pPr indent="0" marL="0">
              <a:buNone/>
            </a:pPr>
            <a:r>
              <a:rPr lang="en-US" sz="1400" dirty="0">
                <a:solidFill>
                  <a:srgbClr val="1B2A49"/>
                </a:solidFill>
                <a:latin typeface="Calibri" pitchFamily="34" charset="0"/>
                <a:ea typeface="Calibri" pitchFamily="34" charset="-122"/>
                <a:cs typeface="Calibri" pitchFamily="34" charset="-120"/>
              </a:rPr>
              <a:t>new page loaded, old one evicted</a:t>
            </a:r>
            <a:endParaRPr lang="en-US" sz="1400" dirty="0"/>
          </a:p>
        </p:txBody>
      </p:sp>
      <p:sp>
        <p:nvSpPr>
          <p:cNvPr id="18" name="Text 15"/>
          <p:cNvSpPr txBox="1"/>
          <p:nvPr/>
        </p:nvSpPr>
        <p:spPr>
          <a:xfrm>
            <a:off x="457200" y="3566160"/>
            <a:ext cx="3840480" cy="274320"/>
          </a:xfrm>
          <a:prstGeom prst="rect">
            <a:avLst/>
          </a:prstGeom>
          <a:noFill/>
          <a:ln/>
        </p:spPr>
        <p:txBody>
          <a:bodyPr wrap="square" lIns="0" tIns="0" rIns="0" bIns="0" rtlCol="0" anchor="t"/>
          <a:lstStyle/>
          <a:p>
            <a:pPr indent="0" marL="0">
              <a:buNone/>
            </a:pPr>
            <a:r>
              <a:rPr lang="en-US" sz="1400" b="1" dirty="0">
                <a:solidFill>
                  <a:srgbClr val="1E8E4E"/>
                </a:solidFill>
                <a:latin typeface="Calibri" pitchFamily="34" charset="0"/>
                <a:ea typeface="Calibri" pitchFamily="34" charset="-122"/>
                <a:cs typeface="Calibri" pitchFamily="34" charset="-120"/>
              </a:rPr>
              <a:t>Hit  </a:t>
            </a:r>
            <a:pPr indent="0" marL="0">
              <a:buNone/>
            </a:pPr>
            <a:r>
              <a:rPr lang="en-US" sz="1400" dirty="0">
                <a:solidFill>
                  <a:srgbClr val="1B2A49"/>
                </a:solidFill>
                <a:latin typeface="Calibri" pitchFamily="34" charset="0"/>
                <a:ea typeface="Calibri" pitchFamily="34" charset="-122"/>
                <a:cs typeface="Calibri" pitchFamily="34" charset="-120"/>
              </a:rPr>
              <a:t>page already in a frame</a:t>
            </a:r>
            <a:endParaRPr lang="en-US" sz="1400" dirty="0"/>
          </a:p>
        </p:txBody>
      </p:sp>
      <p:sp>
        <p:nvSpPr>
          <p:cNvPr id="19" name="Shape 16"/>
          <p:cNvSpPr/>
          <p:nvPr/>
        </p:nvSpPr>
        <p:spPr>
          <a:xfrm>
            <a:off x="4754880" y="1188720"/>
            <a:ext cx="3931920" cy="685800"/>
          </a:xfrm>
          <a:prstGeom prst="roundRect">
            <a:avLst>
              <a:gd name="adj" fmla="val 10667"/>
            </a:avLst>
          </a:prstGeom>
          <a:solidFill>
            <a:srgbClr val="EEF3F8"/>
          </a:solidFill>
          <a:ln w="9525">
            <a:solidFill>
              <a:srgbClr val="D3DBE6"/>
            </a:solidFill>
            <a:prstDash val="solid"/>
          </a:ln>
        </p:spPr>
      </p:sp>
      <p:sp>
        <p:nvSpPr>
          <p:cNvPr id="20" name="Text 17"/>
          <p:cNvSpPr txBox="1"/>
          <p:nvPr/>
        </p:nvSpPr>
        <p:spPr>
          <a:xfrm>
            <a:off x="4937760" y="1188720"/>
            <a:ext cx="3611880" cy="685800"/>
          </a:xfrm>
          <a:prstGeom prst="rect">
            <a:avLst/>
          </a:prstGeom>
          <a:noFill/>
          <a:ln/>
        </p:spPr>
        <p:txBody>
          <a:bodyPr wrap="square" lIns="0" tIns="0" rIns="0" bIns="0" rtlCol="0" anchor="ctr"/>
          <a:lstStyle/>
          <a:p>
            <a:pPr indent="0" marL="0">
              <a:buNone/>
            </a:pPr>
            <a:r>
              <a:rPr lang="en-US" sz="1500" b="1" dirty="0">
                <a:solidFill>
                  <a:srgbClr val="0F8B8D"/>
                </a:solidFill>
                <a:latin typeface="Calibri" pitchFamily="34" charset="0"/>
                <a:ea typeface="Calibri" pitchFamily="34" charset="-122"/>
                <a:cs typeface="Calibri" pitchFamily="34" charset="-120"/>
              </a:rPr>
              <a:t>Page: </a:t>
            </a:r>
            <a:pPr indent="0" marL="0">
              <a:buNone/>
            </a:pPr>
            <a:r>
              <a:rPr lang="en-US" sz="1500" dirty="0">
                <a:solidFill>
                  <a:srgbClr val="1B2A49"/>
                </a:solidFill>
                <a:latin typeface="Calibri" pitchFamily="34" charset="0"/>
                <a:ea typeface="Calibri" pitchFamily="34" charset="-122"/>
                <a:cs typeface="Calibri" pitchFamily="34" charset="-120"/>
              </a:rPr>
              <a:t>fixed block of a program</a:t>
            </a:r>
            <a:endParaRPr lang="en-US" sz="1500" dirty="0"/>
          </a:p>
        </p:txBody>
      </p:sp>
      <p:sp>
        <p:nvSpPr>
          <p:cNvPr id="21" name="Shape 18"/>
          <p:cNvSpPr/>
          <p:nvPr/>
        </p:nvSpPr>
        <p:spPr>
          <a:xfrm>
            <a:off x="4754880" y="2011680"/>
            <a:ext cx="3931920" cy="685800"/>
          </a:xfrm>
          <a:prstGeom prst="roundRect">
            <a:avLst>
              <a:gd name="adj" fmla="val 10667"/>
            </a:avLst>
          </a:prstGeom>
          <a:solidFill>
            <a:srgbClr val="EEF3F8"/>
          </a:solidFill>
          <a:ln w="9525">
            <a:solidFill>
              <a:srgbClr val="D3DBE6"/>
            </a:solidFill>
            <a:prstDash val="solid"/>
          </a:ln>
        </p:spPr>
      </p:sp>
      <p:sp>
        <p:nvSpPr>
          <p:cNvPr id="22" name="Text 19"/>
          <p:cNvSpPr txBox="1"/>
          <p:nvPr/>
        </p:nvSpPr>
        <p:spPr>
          <a:xfrm>
            <a:off x="4937760" y="2011680"/>
            <a:ext cx="3611880" cy="685800"/>
          </a:xfrm>
          <a:prstGeom prst="rect">
            <a:avLst/>
          </a:prstGeom>
          <a:noFill/>
          <a:ln/>
        </p:spPr>
        <p:txBody>
          <a:bodyPr wrap="square" lIns="0" tIns="0" rIns="0" bIns="0" rtlCol="0" anchor="ctr"/>
          <a:lstStyle/>
          <a:p>
            <a:pPr indent="0" marL="0">
              <a:buNone/>
            </a:pPr>
            <a:r>
              <a:rPr lang="en-US" sz="1500" b="1" dirty="0">
                <a:solidFill>
                  <a:srgbClr val="0F8B8D"/>
                </a:solidFill>
                <a:latin typeface="Calibri" pitchFamily="34" charset="0"/>
                <a:ea typeface="Calibri" pitchFamily="34" charset="-122"/>
                <a:cs typeface="Calibri" pitchFamily="34" charset="-120"/>
              </a:rPr>
              <a:t>Frame: </a:t>
            </a:r>
            <a:pPr indent="0" marL="0">
              <a:buNone/>
            </a:pPr>
            <a:r>
              <a:rPr lang="en-US" sz="1500" dirty="0">
                <a:solidFill>
                  <a:srgbClr val="1B2A49"/>
                </a:solidFill>
                <a:latin typeface="Calibri" pitchFamily="34" charset="0"/>
                <a:ea typeface="Calibri" pitchFamily="34" charset="-122"/>
                <a:cs typeface="Calibri" pitchFamily="34" charset="-120"/>
              </a:rPr>
              <a:t>fixed slot of memory</a:t>
            </a:r>
            <a:endParaRPr lang="en-US" sz="1500" dirty="0"/>
          </a:p>
        </p:txBody>
      </p:sp>
      <p:sp>
        <p:nvSpPr>
          <p:cNvPr id="23" name="Shape 20"/>
          <p:cNvSpPr/>
          <p:nvPr/>
        </p:nvSpPr>
        <p:spPr>
          <a:xfrm>
            <a:off x="4754880" y="2834640"/>
            <a:ext cx="3931920" cy="685800"/>
          </a:xfrm>
          <a:prstGeom prst="roundRect">
            <a:avLst>
              <a:gd name="adj" fmla="val 10667"/>
            </a:avLst>
          </a:prstGeom>
          <a:solidFill>
            <a:srgbClr val="EEF3F8"/>
          </a:solidFill>
          <a:ln w="9525">
            <a:solidFill>
              <a:srgbClr val="D3DBE6"/>
            </a:solidFill>
            <a:prstDash val="solid"/>
          </a:ln>
        </p:spPr>
      </p:sp>
      <p:sp>
        <p:nvSpPr>
          <p:cNvPr id="24" name="Text 21"/>
          <p:cNvSpPr txBox="1"/>
          <p:nvPr/>
        </p:nvSpPr>
        <p:spPr>
          <a:xfrm>
            <a:off x="4937760" y="2834640"/>
            <a:ext cx="3611880" cy="685800"/>
          </a:xfrm>
          <a:prstGeom prst="rect">
            <a:avLst/>
          </a:prstGeom>
          <a:noFill/>
          <a:ln/>
        </p:spPr>
        <p:txBody>
          <a:bodyPr wrap="square" lIns="0" tIns="0" rIns="0" bIns="0" rtlCol="0" anchor="ctr"/>
          <a:lstStyle/>
          <a:p>
            <a:pPr indent="0" marL="0">
              <a:buNone/>
            </a:pPr>
            <a:r>
              <a:rPr lang="en-US" sz="1500" b="1" dirty="0">
                <a:solidFill>
                  <a:srgbClr val="0F8B8D"/>
                </a:solidFill>
                <a:latin typeface="Calibri" pitchFamily="34" charset="0"/>
                <a:ea typeface="Calibri" pitchFamily="34" charset="-122"/>
                <a:cs typeface="Calibri" pitchFamily="34" charset="-120"/>
              </a:rPr>
              <a:t>Eviction: </a:t>
            </a:r>
            <a:pPr indent="0" marL="0">
              <a:buNone/>
            </a:pPr>
            <a:r>
              <a:rPr lang="en-US" sz="1500" dirty="0">
                <a:solidFill>
                  <a:srgbClr val="1B2A49"/>
                </a:solidFill>
                <a:latin typeface="Calibri" pitchFamily="34" charset="0"/>
                <a:ea typeface="Calibri" pitchFamily="34" charset="-122"/>
                <a:cs typeface="Calibri" pitchFamily="34" charset="-120"/>
              </a:rPr>
              <a:t>remove a page for room</a:t>
            </a:r>
            <a:endParaRPr lang="en-US" sz="1500" dirty="0"/>
          </a:p>
        </p:txBody>
      </p:sp>
      <p:sp>
        <p:nvSpPr>
          <p:cNvPr id="25" name="Shape 22"/>
          <p:cNvSpPr/>
          <p:nvPr/>
        </p:nvSpPr>
        <p:spPr>
          <a:xfrm>
            <a:off x="4754880" y="3657600"/>
            <a:ext cx="3931920" cy="685800"/>
          </a:xfrm>
          <a:prstGeom prst="roundRect">
            <a:avLst>
              <a:gd name="adj" fmla="val 10667"/>
            </a:avLst>
          </a:prstGeom>
          <a:solidFill>
            <a:srgbClr val="EEF3F8"/>
          </a:solidFill>
          <a:ln w="9525">
            <a:solidFill>
              <a:srgbClr val="D3DBE6"/>
            </a:solidFill>
            <a:prstDash val="solid"/>
          </a:ln>
        </p:spPr>
      </p:sp>
      <p:sp>
        <p:nvSpPr>
          <p:cNvPr id="26" name="Text 23"/>
          <p:cNvSpPr txBox="1"/>
          <p:nvPr/>
        </p:nvSpPr>
        <p:spPr>
          <a:xfrm>
            <a:off x="4937760" y="3657600"/>
            <a:ext cx="3611880" cy="685800"/>
          </a:xfrm>
          <a:prstGeom prst="rect">
            <a:avLst/>
          </a:prstGeom>
          <a:noFill/>
          <a:ln/>
        </p:spPr>
        <p:txBody>
          <a:bodyPr wrap="square" lIns="0" tIns="0" rIns="0" bIns="0" rtlCol="0" anchor="ctr"/>
          <a:lstStyle/>
          <a:p>
            <a:pPr indent="0" marL="0">
              <a:buNone/>
            </a:pPr>
            <a:r>
              <a:rPr lang="en-US" sz="1500" b="1" dirty="0">
                <a:solidFill>
                  <a:srgbClr val="0F8B8D"/>
                </a:solidFill>
                <a:latin typeface="Calibri" pitchFamily="34" charset="0"/>
                <a:ea typeface="Calibri" pitchFamily="34" charset="-122"/>
                <a:cs typeface="Calibri" pitchFamily="34" charset="-120"/>
              </a:rPr>
              <a:t>Demand paging: </a:t>
            </a:r>
            <a:pPr indent="0" marL="0">
              <a:buNone/>
            </a:pPr>
            <a:r>
              <a:rPr lang="en-US" sz="1500" dirty="0">
                <a:solidFill>
                  <a:srgbClr val="1B2A49"/>
                </a:solidFill>
                <a:latin typeface="Calibri" pitchFamily="34" charset="0"/>
                <a:ea typeface="Calibri" pitchFamily="34" charset="-122"/>
                <a:cs typeface="Calibri" pitchFamily="34" charset="-120"/>
              </a:rPr>
              <a:t>load a page only when needed</a:t>
            </a:r>
            <a:endParaRPr lang="en-US" sz="1500" dirty="0"/>
          </a:p>
        </p:txBody>
      </p:sp>
      <p:sp>
        <p:nvSpPr>
          <p:cNvPr id="27" name="Text 24"/>
          <p:cNvSpPr txBox="1"/>
          <p:nvPr/>
        </p:nvSpPr>
        <p:spPr>
          <a:xfrm>
            <a:off x="457200" y="4343400"/>
            <a:ext cx="8229600" cy="320040"/>
          </a:xfrm>
          <a:prstGeom prst="rect">
            <a:avLst/>
          </a:prstGeom>
          <a:noFill/>
          <a:ln/>
        </p:spPr>
        <p:txBody>
          <a:bodyPr wrap="square" lIns="0" tIns="0" rIns="0" bIns="0" rtlCol="0" anchor="t"/>
          <a:lstStyle/>
          <a:p>
            <a:pPr indent="0" marL="0">
              <a:buNone/>
            </a:pPr>
            <a:r>
              <a:rPr lang="en-US" sz="1200" dirty="0">
                <a:solidFill>
                  <a:srgbClr val="5B6B7D"/>
                </a:solidFill>
                <a:latin typeface="Calibri" pitchFamily="34" charset="0"/>
                <a:ea typeface="Calibri" pitchFamily="34" charset="-122"/>
                <a:cs typeface="Calibri" pitchFamily="34" charset="-120"/>
              </a:rPr>
              <a:t>Model limit: counts resident-page misses only, not TLB or disk timing.</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D"/>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1B2A49"/>
                </a:solidFill>
              </a:rPr>
              <a:t>Four replacement rules</a:t>
            </a:r>
            <a:endParaRPr lang="en-US" sz="3200" dirty="0"/>
          </a:p>
        </p:txBody>
      </p:sp>
      <p:sp>
        <p:nvSpPr>
          <p:cNvPr id="4" name="Shape 1"/>
          <p:cNvSpPr/>
          <p:nvPr/>
        </p:nvSpPr>
        <p:spPr>
          <a:xfrm>
            <a:off x="457200" y="1143000"/>
            <a:ext cx="4023360" cy="1645920"/>
          </a:xfrm>
          <a:prstGeom prst="roundRect">
            <a:avLst>
              <a:gd name="adj" fmla="val 4444"/>
            </a:avLst>
          </a:prstGeom>
          <a:solidFill>
            <a:srgbClr val="EEF3F8"/>
          </a:solidFill>
          <a:ln w="9525">
            <a:solidFill>
              <a:srgbClr val="D3DBE6"/>
            </a:solidFill>
            <a:prstDash val="solid"/>
          </a:ln>
        </p:spPr>
      </p:sp>
      <p:sp>
        <p:nvSpPr>
          <p:cNvPr id="5" name="Text 2"/>
          <p:cNvSpPr txBox="1"/>
          <p:nvPr/>
        </p:nvSpPr>
        <p:spPr>
          <a:xfrm>
            <a:off x="640080" y="1252728"/>
            <a:ext cx="2286000" cy="365760"/>
          </a:xfrm>
          <a:prstGeom prst="rect">
            <a:avLst/>
          </a:prstGeom>
          <a:noFill/>
          <a:ln/>
        </p:spPr>
        <p:txBody>
          <a:bodyPr wrap="square" lIns="0" tIns="0" rIns="0" bIns="0" rtlCol="0" anchor="t"/>
          <a:lstStyle/>
          <a:p>
            <a:pPr indent="0" marL="0">
              <a:buNone/>
            </a:pPr>
            <a:r>
              <a:rPr lang="en-US" sz="2000" b="1" dirty="0">
                <a:solidFill>
                  <a:srgbClr val="D64545"/>
                </a:solidFill>
                <a:latin typeface="Cambria" pitchFamily="34" charset="0"/>
                <a:ea typeface="Cambria" pitchFamily="34" charset="-122"/>
                <a:cs typeface="Cambria" pitchFamily="34" charset="-120"/>
              </a:rPr>
              <a:t>FIFO</a:t>
            </a:r>
            <a:endParaRPr lang="en-US" sz="2000" dirty="0"/>
          </a:p>
        </p:txBody>
      </p:sp>
      <p:sp>
        <p:nvSpPr>
          <p:cNvPr id="6" name="Text 3"/>
          <p:cNvSpPr txBox="1"/>
          <p:nvPr/>
        </p:nvSpPr>
        <p:spPr>
          <a:xfrm>
            <a:off x="2926080" y="1252728"/>
            <a:ext cx="1371600" cy="365760"/>
          </a:xfrm>
          <a:prstGeom prst="rect">
            <a:avLst/>
          </a:prstGeom>
          <a:noFill/>
          <a:ln/>
        </p:spPr>
        <p:txBody>
          <a:bodyPr wrap="square" lIns="0" tIns="0" rIns="0" bIns="0" rtlCol="0" anchor="t"/>
          <a:lstStyle/>
          <a:p>
            <a:pPr algn="r" indent="0" marL="0">
              <a:buNone/>
            </a:pPr>
            <a:r>
              <a:rPr lang="en-US" sz="1600" b="1" dirty="0">
                <a:solidFill>
                  <a:srgbClr val="1B2A49"/>
                </a:solidFill>
                <a:latin typeface="Calibri" pitchFamily="34" charset="0"/>
                <a:ea typeface="Calibri" pitchFamily="34" charset="-122"/>
                <a:cs typeface="Calibri" pitchFamily="34" charset="-120"/>
              </a:rPr>
              <a:t>15 faults</a:t>
            </a:r>
            <a:endParaRPr lang="en-US" sz="1600" dirty="0"/>
          </a:p>
        </p:txBody>
      </p:sp>
      <p:sp>
        <p:nvSpPr>
          <p:cNvPr id="7" name="Text 4"/>
          <p:cNvSpPr txBox="1"/>
          <p:nvPr/>
        </p:nvSpPr>
        <p:spPr>
          <a:xfrm>
            <a:off x="640080" y="1737360"/>
            <a:ext cx="3657600" cy="411480"/>
          </a:xfrm>
          <a:prstGeom prst="rect">
            <a:avLst/>
          </a:prstGeom>
          <a:noFill/>
          <a:ln/>
        </p:spPr>
        <p:txBody>
          <a:bodyPr wrap="square" lIns="0" tIns="0" rIns="0" bIns="0" rtlCol="0" anchor="t"/>
          <a:lstStyle/>
          <a:p>
            <a:pPr indent="0" marL="0">
              <a:buNone/>
            </a:pPr>
            <a:r>
              <a:rPr lang="en-US" sz="1400" b="1" dirty="0">
                <a:solidFill>
                  <a:srgbClr val="1B2A49"/>
                </a:solidFill>
                <a:latin typeface="Calibri" pitchFamily="34" charset="0"/>
                <a:ea typeface="Calibri" pitchFamily="34" charset="-122"/>
                <a:cs typeface="Calibri" pitchFamily="34" charset="-120"/>
              </a:rPr>
              <a:t>Evict the oldest page</a:t>
            </a:r>
            <a:endParaRPr lang="en-US" sz="1400" dirty="0"/>
          </a:p>
        </p:txBody>
      </p:sp>
      <p:sp>
        <p:nvSpPr>
          <p:cNvPr id="8" name="Text 5"/>
          <p:cNvSpPr txBox="1"/>
          <p:nvPr/>
        </p:nvSpPr>
        <p:spPr>
          <a:xfrm>
            <a:off x="640080" y="2148840"/>
            <a:ext cx="3657600" cy="548640"/>
          </a:xfrm>
          <a:prstGeom prst="rect">
            <a:avLst/>
          </a:prstGeom>
          <a:noFill/>
          <a:ln/>
        </p:spPr>
        <p:txBody>
          <a:bodyPr wrap="square" lIns="0" tIns="0" rIns="0" bIns="0" rtlCol="0" anchor="t"/>
          <a:lstStyle/>
          <a:p>
            <a:pPr indent="0" marL="0">
              <a:buNone/>
            </a:pPr>
            <a:r>
              <a:rPr lang="en-US" sz="1300" dirty="0">
                <a:solidFill>
                  <a:srgbClr val="5B6B7D"/>
                </a:solidFill>
                <a:latin typeface="Calibri" pitchFamily="34" charset="0"/>
                <a:ea typeface="Calibri" pitchFamily="34" charset="-122"/>
                <a:cs typeface="Calibri" pitchFamily="34" charset="-120"/>
              </a:rPr>
              <a:t>Simple, but ignores use. Can show Belady's anomaly.</a:t>
            </a:r>
            <a:endParaRPr lang="en-US" sz="1300" dirty="0"/>
          </a:p>
        </p:txBody>
      </p:sp>
      <p:sp>
        <p:nvSpPr>
          <p:cNvPr id="9" name="Shape 6"/>
          <p:cNvSpPr/>
          <p:nvPr/>
        </p:nvSpPr>
        <p:spPr>
          <a:xfrm>
            <a:off x="4663440" y="1143000"/>
            <a:ext cx="4023360" cy="1645920"/>
          </a:xfrm>
          <a:prstGeom prst="roundRect">
            <a:avLst>
              <a:gd name="adj" fmla="val 4444"/>
            </a:avLst>
          </a:prstGeom>
          <a:solidFill>
            <a:srgbClr val="EEF3F8"/>
          </a:solidFill>
          <a:ln w="9525">
            <a:solidFill>
              <a:srgbClr val="D3DBE6"/>
            </a:solidFill>
            <a:prstDash val="solid"/>
          </a:ln>
        </p:spPr>
      </p:sp>
      <p:sp>
        <p:nvSpPr>
          <p:cNvPr id="10" name="Text 7"/>
          <p:cNvSpPr txBox="1"/>
          <p:nvPr/>
        </p:nvSpPr>
        <p:spPr>
          <a:xfrm>
            <a:off x="4846320" y="1252728"/>
            <a:ext cx="2286000" cy="365760"/>
          </a:xfrm>
          <a:prstGeom prst="rect">
            <a:avLst/>
          </a:prstGeom>
          <a:noFill/>
          <a:ln/>
        </p:spPr>
        <p:txBody>
          <a:bodyPr wrap="square" lIns="0" tIns="0" rIns="0" bIns="0" rtlCol="0" anchor="t"/>
          <a:lstStyle/>
          <a:p>
            <a:pPr indent="0" marL="0">
              <a:buNone/>
            </a:pPr>
            <a:r>
              <a:rPr lang="en-US" sz="2000" b="1" dirty="0">
                <a:solidFill>
                  <a:srgbClr val="C98A1B"/>
                </a:solidFill>
                <a:latin typeface="Cambria" pitchFamily="34" charset="0"/>
                <a:ea typeface="Cambria" pitchFamily="34" charset="-122"/>
                <a:cs typeface="Cambria" pitchFamily="34" charset="-120"/>
              </a:rPr>
              <a:t>LRU</a:t>
            </a:r>
            <a:endParaRPr lang="en-US" sz="2000" dirty="0"/>
          </a:p>
        </p:txBody>
      </p:sp>
      <p:sp>
        <p:nvSpPr>
          <p:cNvPr id="11" name="Text 8"/>
          <p:cNvSpPr txBox="1"/>
          <p:nvPr/>
        </p:nvSpPr>
        <p:spPr>
          <a:xfrm>
            <a:off x="7132320" y="1252728"/>
            <a:ext cx="1371600" cy="365760"/>
          </a:xfrm>
          <a:prstGeom prst="rect">
            <a:avLst/>
          </a:prstGeom>
          <a:noFill/>
          <a:ln/>
        </p:spPr>
        <p:txBody>
          <a:bodyPr wrap="square" lIns="0" tIns="0" rIns="0" bIns="0" rtlCol="0" anchor="t"/>
          <a:lstStyle/>
          <a:p>
            <a:pPr algn="r" indent="0" marL="0">
              <a:buNone/>
            </a:pPr>
            <a:r>
              <a:rPr lang="en-US" sz="1600" b="1" dirty="0">
                <a:solidFill>
                  <a:srgbClr val="1B2A49"/>
                </a:solidFill>
                <a:latin typeface="Calibri" pitchFamily="34" charset="0"/>
                <a:ea typeface="Calibri" pitchFamily="34" charset="-122"/>
                <a:cs typeface="Calibri" pitchFamily="34" charset="-120"/>
              </a:rPr>
              <a:t>12 faults</a:t>
            </a:r>
            <a:endParaRPr lang="en-US" sz="1600" dirty="0"/>
          </a:p>
        </p:txBody>
      </p:sp>
      <p:sp>
        <p:nvSpPr>
          <p:cNvPr id="12" name="Text 9"/>
          <p:cNvSpPr txBox="1"/>
          <p:nvPr/>
        </p:nvSpPr>
        <p:spPr>
          <a:xfrm>
            <a:off x="4846320" y="1737360"/>
            <a:ext cx="3657600" cy="411480"/>
          </a:xfrm>
          <a:prstGeom prst="rect">
            <a:avLst/>
          </a:prstGeom>
          <a:noFill/>
          <a:ln/>
        </p:spPr>
        <p:txBody>
          <a:bodyPr wrap="square" lIns="0" tIns="0" rIns="0" bIns="0" rtlCol="0" anchor="t"/>
          <a:lstStyle/>
          <a:p>
            <a:pPr indent="0" marL="0">
              <a:buNone/>
            </a:pPr>
            <a:r>
              <a:rPr lang="en-US" sz="1400" b="1" dirty="0">
                <a:solidFill>
                  <a:srgbClr val="1B2A49"/>
                </a:solidFill>
                <a:latin typeface="Calibri" pitchFamily="34" charset="0"/>
                <a:ea typeface="Calibri" pitchFamily="34" charset="-122"/>
                <a:cs typeface="Calibri" pitchFamily="34" charset="-120"/>
              </a:rPr>
              <a:t>Evict the least recently used page</a:t>
            </a:r>
            <a:endParaRPr lang="en-US" sz="1400" dirty="0"/>
          </a:p>
        </p:txBody>
      </p:sp>
      <p:sp>
        <p:nvSpPr>
          <p:cNvPr id="13" name="Text 10"/>
          <p:cNvSpPr txBox="1"/>
          <p:nvPr/>
        </p:nvSpPr>
        <p:spPr>
          <a:xfrm>
            <a:off x="4846320" y="2148840"/>
            <a:ext cx="3657600" cy="548640"/>
          </a:xfrm>
          <a:prstGeom prst="rect">
            <a:avLst/>
          </a:prstGeom>
          <a:noFill/>
          <a:ln/>
        </p:spPr>
        <p:txBody>
          <a:bodyPr wrap="square" lIns="0" tIns="0" rIns="0" bIns="0" rtlCol="0" anchor="t"/>
          <a:lstStyle/>
          <a:p>
            <a:pPr indent="0" marL="0">
              <a:buNone/>
            </a:pPr>
            <a:r>
              <a:rPr lang="en-US" sz="1300" dirty="0">
                <a:solidFill>
                  <a:srgbClr val="5B6B7D"/>
                </a:solidFill>
                <a:latin typeface="Calibri" pitchFamily="34" charset="0"/>
                <a:ea typeface="Calibri" pitchFamily="34" charset="-122"/>
                <a:cs typeface="Calibri" pitchFamily="34" charset="-120"/>
              </a:rPr>
              <a:t>Few faults, but needs usage tracking.</a:t>
            </a:r>
            <a:endParaRPr lang="en-US" sz="1300" dirty="0"/>
          </a:p>
        </p:txBody>
      </p:sp>
      <p:sp>
        <p:nvSpPr>
          <p:cNvPr id="14" name="Shape 11"/>
          <p:cNvSpPr/>
          <p:nvPr/>
        </p:nvSpPr>
        <p:spPr>
          <a:xfrm>
            <a:off x="457200" y="2926080"/>
            <a:ext cx="4023360" cy="1645920"/>
          </a:xfrm>
          <a:prstGeom prst="roundRect">
            <a:avLst>
              <a:gd name="adj" fmla="val 4444"/>
            </a:avLst>
          </a:prstGeom>
          <a:solidFill>
            <a:srgbClr val="EEF3F8"/>
          </a:solidFill>
          <a:ln w="9525">
            <a:solidFill>
              <a:srgbClr val="D3DBE6"/>
            </a:solidFill>
            <a:prstDash val="solid"/>
          </a:ln>
        </p:spPr>
      </p:sp>
      <p:sp>
        <p:nvSpPr>
          <p:cNvPr id="15" name="Text 12"/>
          <p:cNvSpPr txBox="1"/>
          <p:nvPr/>
        </p:nvSpPr>
        <p:spPr>
          <a:xfrm>
            <a:off x="640080" y="3035808"/>
            <a:ext cx="2286000" cy="365760"/>
          </a:xfrm>
          <a:prstGeom prst="rect">
            <a:avLst/>
          </a:prstGeom>
          <a:noFill/>
          <a:ln/>
        </p:spPr>
        <p:txBody>
          <a:bodyPr wrap="square" lIns="0" tIns="0" rIns="0" bIns="0" rtlCol="0" anchor="t"/>
          <a:lstStyle/>
          <a:p>
            <a:pPr indent="0" marL="0">
              <a:buNone/>
            </a:pPr>
            <a:r>
              <a:rPr lang="en-US" sz="2000" b="1" dirty="0">
                <a:solidFill>
                  <a:srgbClr val="1E8E4E"/>
                </a:solidFill>
                <a:latin typeface="Cambria" pitchFamily="34" charset="0"/>
                <a:ea typeface="Cambria" pitchFamily="34" charset="-122"/>
                <a:cs typeface="Cambria" pitchFamily="34" charset="-120"/>
              </a:rPr>
              <a:t>Optimal</a:t>
            </a:r>
            <a:endParaRPr lang="en-US" sz="2000" dirty="0"/>
          </a:p>
        </p:txBody>
      </p:sp>
      <p:sp>
        <p:nvSpPr>
          <p:cNvPr id="16" name="Text 13"/>
          <p:cNvSpPr txBox="1"/>
          <p:nvPr/>
        </p:nvSpPr>
        <p:spPr>
          <a:xfrm>
            <a:off x="2926080" y="3035808"/>
            <a:ext cx="1371600" cy="365760"/>
          </a:xfrm>
          <a:prstGeom prst="rect">
            <a:avLst/>
          </a:prstGeom>
          <a:noFill/>
          <a:ln/>
        </p:spPr>
        <p:txBody>
          <a:bodyPr wrap="square" lIns="0" tIns="0" rIns="0" bIns="0" rtlCol="0" anchor="t"/>
          <a:lstStyle/>
          <a:p>
            <a:pPr algn="r" indent="0" marL="0">
              <a:buNone/>
            </a:pPr>
            <a:r>
              <a:rPr lang="en-US" sz="1600" b="1" dirty="0">
                <a:solidFill>
                  <a:srgbClr val="1B2A49"/>
                </a:solidFill>
                <a:latin typeface="Calibri" pitchFamily="34" charset="0"/>
                <a:ea typeface="Calibri" pitchFamily="34" charset="-122"/>
                <a:cs typeface="Calibri" pitchFamily="34" charset="-120"/>
              </a:rPr>
              <a:t>9 faults</a:t>
            </a:r>
            <a:endParaRPr lang="en-US" sz="1600" dirty="0"/>
          </a:p>
        </p:txBody>
      </p:sp>
      <p:sp>
        <p:nvSpPr>
          <p:cNvPr id="17" name="Text 14"/>
          <p:cNvSpPr txBox="1"/>
          <p:nvPr/>
        </p:nvSpPr>
        <p:spPr>
          <a:xfrm>
            <a:off x="640080" y="3520440"/>
            <a:ext cx="3657600" cy="411480"/>
          </a:xfrm>
          <a:prstGeom prst="rect">
            <a:avLst/>
          </a:prstGeom>
          <a:noFill/>
          <a:ln/>
        </p:spPr>
        <p:txBody>
          <a:bodyPr wrap="square" lIns="0" tIns="0" rIns="0" bIns="0" rtlCol="0" anchor="t"/>
          <a:lstStyle/>
          <a:p>
            <a:pPr indent="0" marL="0">
              <a:buNone/>
            </a:pPr>
            <a:r>
              <a:rPr lang="en-US" sz="1400" b="1" dirty="0">
                <a:solidFill>
                  <a:srgbClr val="1B2A49"/>
                </a:solidFill>
                <a:latin typeface="Calibri" pitchFamily="34" charset="0"/>
                <a:ea typeface="Calibri" pitchFamily="34" charset="-122"/>
                <a:cs typeface="Calibri" pitchFamily="34" charset="-120"/>
              </a:rPr>
              <a:t>Evict the page used farthest in the future</a:t>
            </a:r>
            <a:endParaRPr lang="en-US" sz="1400" dirty="0"/>
          </a:p>
        </p:txBody>
      </p:sp>
      <p:sp>
        <p:nvSpPr>
          <p:cNvPr id="18" name="Text 15"/>
          <p:cNvSpPr txBox="1"/>
          <p:nvPr/>
        </p:nvSpPr>
        <p:spPr>
          <a:xfrm>
            <a:off x="640080" y="3931920"/>
            <a:ext cx="3657600" cy="548640"/>
          </a:xfrm>
          <a:prstGeom prst="rect">
            <a:avLst/>
          </a:prstGeom>
          <a:noFill/>
          <a:ln/>
        </p:spPr>
        <p:txBody>
          <a:bodyPr wrap="square" lIns="0" tIns="0" rIns="0" bIns="0" rtlCol="0" anchor="t"/>
          <a:lstStyle/>
          <a:p>
            <a:pPr indent="0" marL="0">
              <a:buNone/>
            </a:pPr>
            <a:r>
              <a:rPr lang="en-US" sz="1300" dirty="0">
                <a:solidFill>
                  <a:srgbClr val="5B6B7D"/>
                </a:solidFill>
                <a:latin typeface="Calibri" pitchFamily="34" charset="0"/>
                <a:ea typeface="Calibri" pitchFamily="34" charset="-122"/>
                <a:cs typeface="Calibri" pitchFamily="34" charset="-120"/>
              </a:rPr>
              <a:t>Fewest faults, but needs the future. Benchmark only.</a:t>
            </a:r>
            <a:endParaRPr lang="en-US" sz="1300" dirty="0"/>
          </a:p>
        </p:txBody>
      </p:sp>
      <p:sp>
        <p:nvSpPr>
          <p:cNvPr id="19" name="Shape 16"/>
          <p:cNvSpPr/>
          <p:nvPr/>
        </p:nvSpPr>
        <p:spPr>
          <a:xfrm>
            <a:off x="4663440" y="2926080"/>
            <a:ext cx="4023360" cy="1645920"/>
          </a:xfrm>
          <a:prstGeom prst="roundRect">
            <a:avLst>
              <a:gd name="adj" fmla="val 4444"/>
            </a:avLst>
          </a:prstGeom>
          <a:solidFill>
            <a:srgbClr val="EEF3F8"/>
          </a:solidFill>
          <a:ln w="9525">
            <a:solidFill>
              <a:srgbClr val="D3DBE6"/>
            </a:solidFill>
            <a:prstDash val="solid"/>
          </a:ln>
        </p:spPr>
      </p:sp>
      <p:sp>
        <p:nvSpPr>
          <p:cNvPr id="20" name="Text 17"/>
          <p:cNvSpPr txBox="1"/>
          <p:nvPr/>
        </p:nvSpPr>
        <p:spPr>
          <a:xfrm>
            <a:off x="4846320" y="3035808"/>
            <a:ext cx="2286000" cy="365760"/>
          </a:xfrm>
          <a:prstGeom prst="rect">
            <a:avLst/>
          </a:prstGeom>
          <a:noFill/>
          <a:ln/>
        </p:spPr>
        <p:txBody>
          <a:bodyPr wrap="square" lIns="0" tIns="0" rIns="0" bIns="0" rtlCol="0" anchor="t"/>
          <a:lstStyle/>
          <a:p>
            <a:pPr indent="0" marL="0">
              <a:buNone/>
            </a:pPr>
            <a:r>
              <a:rPr lang="en-US" sz="2000" b="1" dirty="0">
                <a:solidFill>
                  <a:srgbClr val="0F8B8D"/>
                </a:solidFill>
                <a:latin typeface="Cambria" pitchFamily="34" charset="0"/>
                <a:ea typeface="Cambria" pitchFamily="34" charset="-122"/>
                <a:cs typeface="Cambria" pitchFamily="34" charset="-120"/>
              </a:rPr>
              <a:t>Clock</a:t>
            </a:r>
            <a:endParaRPr lang="en-US" sz="2000" dirty="0"/>
          </a:p>
        </p:txBody>
      </p:sp>
      <p:sp>
        <p:nvSpPr>
          <p:cNvPr id="21" name="Text 18"/>
          <p:cNvSpPr txBox="1"/>
          <p:nvPr/>
        </p:nvSpPr>
        <p:spPr>
          <a:xfrm>
            <a:off x="7132320" y="3035808"/>
            <a:ext cx="1371600" cy="365760"/>
          </a:xfrm>
          <a:prstGeom prst="rect">
            <a:avLst/>
          </a:prstGeom>
          <a:noFill/>
          <a:ln/>
        </p:spPr>
        <p:txBody>
          <a:bodyPr wrap="square" lIns="0" tIns="0" rIns="0" bIns="0" rtlCol="0" anchor="t"/>
          <a:lstStyle/>
          <a:p>
            <a:pPr algn="r" indent="0" marL="0">
              <a:buNone/>
            </a:pPr>
            <a:r>
              <a:rPr lang="en-US" sz="1600" b="1" dirty="0">
                <a:solidFill>
                  <a:srgbClr val="1B2A49"/>
                </a:solidFill>
                <a:latin typeface="Calibri" pitchFamily="34" charset="0"/>
                <a:ea typeface="Calibri" pitchFamily="34" charset="-122"/>
                <a:cs typeface="Calibri" pitchFamily="34" charset="-120"/>
              </a:rPr>
              <a:t>14 faults</a:t>
            </a:r>
            <a:endParaRPr lang="en-US" sz="1600" dirty="0"/>
          </a:p>
        </p:txBody>
      </p:sp>
      <p:sp>
        <p:nvSpPr>
          <p:cNvPr id="22" name="Text 19"/>
          <p:cNvSpPr txBox="1"/>
          <p:nvPr/>
        </p:nvSpPr>
        <p:spPr>
          <a:xfrm>
            <a:off x="4846320" y="3520440"/>
            <a:ext cx="3657600" cy="411480"/>
          </a:xfrm>
          <a:prstGeom prst="rect">
            <a:avLst/>
          </a:prstGeom>
          <a:noFill/>
          <a:ln/>
        </p:spPr>
        <p:txBody>
          <a:bodyPr wrap="square" lIns="0" tIns="0" rIns="0" bIns="0" rtlCol="0" anchor="t"/>
          <a:lstStyle/>
          <a:p>
            <a:pPr indent="0" marL="0">
              <a:buNone/>
            </a:pPr>
            <a:r>
              <a:rPr lang="en-US" sz="1400" b="1" dirty="0">
                <a:solidFill>
                  <a:srgbClr val="1B2A49"/>
                </a:solidFill>
                <a:latin typeface="Calibri" pitchFamily="34" charset="0"/>
                <a:ea typeface="Calibri" pitchFamily="34" charset="-122"/>
                <a:cs typeface="Calibri" pitchFamily="34" charset="-120"/>
              </a:rPr>
              <a:t>Hand skips bit 1 (sets 0), evicts first bit 0</a:t>
            </a:r>
            <a:endParaRPr lang="en-US" sz="1400" dirty="0"/>
          </a:p>
        </p:txBody>
      </p:sp>
      <p:sp>
        <p:nvSpPr>
          <p:cNvPr id="23" name="Text 20"/>
          <p:cNvSpPr txBox="1"/>
          <p:nvPr/>
        </p:nvSpPr>
        <p:spPr>
          <a:xfrm>
            <a:off x="4846320" y="3931920"/>
            <a:ext cx="3657600" cy="548640"/>
          </a:xfrm>
          <a:prstGeom prst="rect">
            <a:avLst/>
          </a:prstGeom>
          <a:noFill/>
          <a:ln/>
        </p:spPr>
        <p:txBody>
          <a:bodyPr wrap="square" lIns="0" tIns="0" rIns="0" bIns="0" rtlCol="0" anchor="t"/>
          <a:lstStyle/>
          <a:p>
            <a:pPr indent="0" marL="0">
              <a:buNone/>
            </a:pPr>
            <a:r>
              <a:rPr lang="en-US" sz="1300" dirty="0">
                <a:solidFill>
                  <a:srgbClr val="5B6B7D"/>
                </a:solidFill>
                <a:latin typeface="Calibri" pitchFamily="34" charset="0"/>
                <a:ea typeface="Calibri" pitchFamily="34" charset="-122"/>
                <a:cs typeface="Calibri" pitchFamily="34" charset="-120"/>
              </a:rPr>
              <a:t>Cheap LRU approximation, one bit per frame.</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D"/>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1B2A49"/>
                </a:solidFill>
              </a:rPr>
              <a:t>The simulator</a:t>
            </a:r>
            <a:endParaRPr lang="en-US" sz="3200" dirty="0"/>
          </a:p>
        </p:txBody>
      </p:sp>
      <p:sp>
        <p:nvSpPr>
          <p:cNvPr id="4" name="Shape 1"/>
          <p:cNvSpPr/>
          <p:nvPr/>
        </p:nvSpPr>
        <p:spPr>
          <a:xfrm>
            <a:off x="457200" y="1188720"/>
            <a:ext cx="4754880" cy="3291840"/>
          </a:xfrm>
          <a:prstGeom prst="rect">
            <a:avLst/>
          </a:prstGeom>
          <a:solidFill>
            <a:srgbClr val="FFFFFF"/>
          </a:solidFill>
          <a:ln w="19050">
            <a:solidFill>
              <a:srgbClr val="5B6B7D"/>
            </a:solidFill>
            <a:prstDash val="dash"/>
          </a:ln>
        </p:spPr>
      </p:sp>
      <p:sp>
        <p:nvSpPr>
          <p:cNvPr id="5" name="Text 2"/>
          <p:cNvSpPr txBox="1"/>
          <p:nvPr/>
        </p:nvSpPr>
        <p:spPr>
          <a:xfrm>
            <a:off x="731520" y="2194560"/>
            <a:ext cx="4206240" cy="1097280"/>
          </a:xfrm>
          <a:prstGeom prst="rect">
            <a:avLst/>
          </a:prstGeom>
          <a:noFill/>
          <a:ln/>
        </p:spPr>
        <p:txBody>
          <a:bodyPr wrap="square" lIns="0" tIns="0" rIns="0" bIns="0" rtlCol="0" anchor="t"/>
          <a:lstStyle/>
          <a:p>
            <a:pPr algn="ctr" indent="0" marL="0">
              <a:buNone/>
            </a:pPr>
            <a:r>
              <a:rPr lang="en-US" sz="1400" b="1" dirty="0">
                <a:solidFill>
                  <a:srgbClr val="5B6B7D"/>
                </a:solidFill>
                <a:latin typeface="Calibri" pitchFamily="34" charset="0"/>
                <a:ea typeface="Calibri" pitchFamily="34" charset="-122"/>
                <a:cs typeface="Calibri" pitchFamily="34" charset="-120"/>
              </a:rPr>
              <a:t>[SCREENSHOT PLACEHOLDER]</a:t>
            </a:r>
            <a:endParaRPr lang="en-US" sz="1400" dirty="0"/>
          </a:p>
          <a:p>
            <a:pPr algn="ctr" indent="0" marL="0">
              <a:buNone/>
            </a:pPr>
            <a:r>
              <a:rPr lang="en-US" sz="1400" dirty="0">
                <a:solidFill>
                  <a:srgbClr val="5B6B7D"/>
                </a:solidFill>
                <a:latin typeface="Calibri" pitchFamily="34" charset="0"/>
                <a:ea typeface="Calibri" pitchFamily="34" charset="-122"/>
                <a:cs typeface="Calibri" pitchFamily="34" charset="-120"/>
              </a:rPr>
              <a:t>Capture index.html after Load example, then insert it here.</a:t>
            </a:r>
            <a:endParaRPr lang="en-US" sz="1400" dirty="0"/>
          </a:p>
        </p:txBody>
      </p:sp>
      <p:sp>
        <p:nvSpPr>
          <p:cNvPr id="6" name="Text 3"/>
          <p:cNvSpPr txBox="1"/>
          <p:nvPr/>
        </p:nvSpPr>
        <p:spPr>
          <a:xfrm>
            <a:off x="5486400" y="1188720"/>
            <a:ext cx="3291840" cy="3291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A49"/>
                </a:solidFill>
                <a:latin typeface="Calibri" pitchFamily="34" charset="0"/>
                <a:ea typeface="Calibri" pitchFamily="34" charset="-122"/>
                <a:cs typeface="Calibri" pitchFamily="34" charset="-120"/>
              </a:rPr>
              <a:t>Frames drawn as boxes: green = hit, red = fault</a:t>
            </a:r>
            <a:endParaRPr lang="en-US" sz="1400" dirty="0"/>
          </a:p>
          <a:p>
            <a:pPr marL="342900" indent="-342900">
              <a:spcAft>
                <a:spcPts val="600"/>
              </a:spcAft>
              <a:buSzPct val="100000"/>
              <a:buChar char="•"/>
            </a:pPr>
            <a:r>
              <a:rPr lang="en-US" sz="1400" dirty="0">
                <a:solidFill>
                  <a:srgbClr val="1B2A49"/>
                </a:solidFill>
                <a:latin typeface="Calibri" pitchFamily="34" charset="0"/>
                <a:ea typeface="Calibri" pitchFamily="34" charset="-122"/>
                <a:cs typeface="Calibri" pitchFamily="34" charset="-120"/>
              </a:rPr>
              <a:t>Step table with H / F row</a:t>
            </a:r>
            <a:endParaRPr lang="en-US" sz="1400" dirty="0"/>
          </a:p>
          <a:p>
            <a:pPr marL="342900" indent="-342900">
              <a:spcAft>
                <a:spcPts val="600"/>
              </a:spcAft>
              <a:buSzPct val="100000"/>
              <a:buChar char="•"/>
            </a:pPr>
            <a:r>
              <a:rPr lang="en-US" sz="1400" dirty="0">
                <a:solidFill>
                  <a:srgbClr val="1B2A49"/>
                </a:solidFill>
                <a:latin typeface="Calibri" pitchFamily="34" charset="0"/>
                <a:ea typeface="Calibri" pitchFamily="34" charset="-122"/>
                <a:cs typeface="Calibri" pitchFamily="34" charset="-120"/>
              </a:rPr>
              <a:t>Plain-English reason for every step</a:t>
            </a:r>
            <a:endParaRPr lang="en-US" sz="1400" dirty="0"/>
          </a:p>
          <a:p>
            <a:pPr marL="342900" indent="-342900">
              <a:spcAft>
                <a:spcPts val="600"/>
              </a:spcAft>
              <a:buSzPct val="100000"/>
              <a:buChar char="•"/>
            </a:pPr>
            <a:r>
              <a:rPr lang="en-US" sz="1400" dirty="0">
                <a:solidFill>
                  <a:srgbClr val="1B2A49"/>
                </a:solidFill>
                <a:latin typeface="Calibri" pitchFamily="34" charset="0"/>
                <a:ea typeface="Calibri" pitchFamily="34" charset="-122"/>
                <a:cs typeface="Calibri" pitchFamily="34" charset="-120"/>
              </a:rPr>
              <a:t>Next, Previous, Play, Reset, speed slider</a:t>
            </a:r>
            <a:endParaRPr lang="en-US" sz="1400" dirty="0"/>
          </a:p>
          <a:p>
            <a:pPr marL="342900" indent="-342900">
              <a:spcAft>
                <a:spcPts val="600"/>
              </a:spcAft>
              <a:buSzPct val="100000"/>
              <a:buChar char="•"/>
            </a:pPr>
            <a:r>
              <a:rPr lang="en-US" sz="1400" dirty="0">
                <a:solidFill>
                  <a:srgbClr val="1B2A49"/>
                </a:solidFill>
                <a:latin typeface="Calibri" pitchFamily="34" charset="0"/>
                <a:ea typeface="Calibri" pitchFamily="34" charset="-122"/>
                <a:cs typeface="Calibri" pitchFamily="34" charset="-120"/>
              </a:rPr>
              <a:t>Statistics and a four-algorithm bar chart</a:t>
            </a:r>
            <a:endParaRPr lang="en-US" sz="1400" dirty="0"/>
          </a:p>
          <a:p>
            <a:pPr marL="342900" indent="-342900">
              <a:spcAft>
                <a:spcPts val="600"/>
              </a:spcAft>
              <a:buSzPct val="100000"/>
              <a:buChar char="•"/>
            </a:pPr>
            <a:r>
              <a:rPr lang="en-US" sz="1400" dirty="0">
                <a:solidFill>
                  <a:srgbClr val="1B2A49"/>
                </a:solidFill>
                <a:latin typeface="Calibri" pitchFamily="34" charset="0"/>
                <a:ea typeface="Calibri" pitchFamily="34" charset="-122"/>
                <a:cs typeface="Calibri" pitchFamily="34" charset="-120"/>
              </a:rPr>
              <a:t>Clock view shows bits and the hand</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D"/>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1B2A49"/>
                </a:solidFill>
              </a:rPr>
              <a:t>Implementation</a:t>
            </a:r>
            <a:endParaRPr lang="en-US" sz="3200" dirty="0"/>
          </a:p>
        </p:txBody>
      </p:sp>
      <p:sp>
        <p:nvSpPr>
          <p:cNvPr id="4" name="Shape 1"/>
          <p:cNvSpPr/>
          <p:nvPr/>
        </p:nvSpPr>
        <p:spPr>
          <a:xfrm>
            <a:off x="457200" y="1188720"/>
            <a:ext cx="1920240" cy="1005840"/>
          </a:xfrm>
          <a:prstGeom prst="roundRect">
            <a:avLst>
              <a:gd name="adj" fmla="val 7273"/>
            </a:avLst>
          </a:prstGeom>
          <a:solidFill>
            <a:srgbClr val="EEF3F8"/>
          </a:solidFill>
          <a:ln w="9525">
            <a:solidFill>
              <a:srgbClr val="D3DBE6"/>
            </a:solidFill>
            <a:prstDash val="solid"/>
          </a:ln>
        </p:spPr>
      </p:sp>
      <p:sp>
        <p:nvSpPr>
          <p:cNvPr id="5" name="Text 2"/>
          <p:cNvSpPr txBox="1"/>
          <p:nvPr/>
        </p:nvSpPr>
        <p:spPr>
          <a:xfrm>
            <a:off x="594360" y="1280160"/>
            <a:ext cx="1691640" cy="365760"/>
          </a:xfrm>
          <a:prstGeom prst="rect">
            <a:avLst/>
          </a:prstGeom>
          <a:noFill/>
          <a:ln/>
        </p:spPr>
        <p:txBody>
          <a:bodyPr wrap="square" lIns="0" tIns="0" rIns="0" bIns="0" rtlCol="0" anchor="t"/>
          <a:lstStyle/>
          <a:p>
            <a:pPr indent="0" marL="0">
              <a:buNone/>
            </a:pPr>
            <a:r>
              <a:rPr lang="en-US" sz="1600" b="1" dirty="0">
                <a:solidFill>
                  <a:srgbClr val="0F8B8D"/>
                </a:solidFill>
                <a:latin typeface="Calibri" pitchFamily="34" charset="0"/>
                <a:ea typeface="Calibri" pitchFamily="34" charset="-122"/>
                <a:cs typeface="Calibri" pitchFamily="34" charset="-120"/>
              </a:rPr>
              <a:t>HTML + CSS</a:t>
            </a:r>
            <a:endParaRPr lang="en-US" sz="1600" dirty="0"/>
          </a:p>
        </p:txBody>
      </p:sp>
      <p:sp>
        <p:nvSpPr>
          <p:cNvPr id="6" name="Text 3"/>
          <p:cNvSpPr txBox="1"/>
          <p:nvPr/>
        </p:nvSpPr>
        <p:spPr>
          <a:xfrm>
            <a:off x="594360" y="1691640"/>
            <a:ext cx="1691640" cy="411480"/>
          </a:xfrm>
          <a:prstGeom prst="rect">
            <a:avLst/>
          </a:prstGeom>
          <a:noFill/>
          <a:ln/>
        </p:spPr>
        <p:txBody>
          <a:bodyPr wrap="square" lIns="0" tIns="0" rIns="0" bIns="0" rtlCol="0" anchor="t"/>
          <a:lstStyle/>
          <a:p>
            <a:pPr indent="0" marL="0">
              <a:buNone/>
            </a:pPr>
            <a:r>
              <a:rPr lang="en-US" sz="1200" dirty="0">
                <a:solidFill>
                  <a:srgbClr val="5B6B7D"/>
                </a:solidFill>
                <a:latin typeface="Calibri" pitchFamily="34" charset="0"/>
                <a:ea typeface="Calibri" pitchFamily="34" charset="-122"/>
                <a:cs typeface="Calibri" pitchFamily="34" charset="-120"/>
              </a:rPr>
              <a:t>layout, light theme</a:t>
            </a:r>
            <a:endParaRPr lang="en-US" sz="1200" dirty="0"/>
          </a:p>
        </p:txBody>
      </p:sp>
      <p:sp>
        <p:nvSpPr>
          <p:cNvPr id="7" name="Shape 4"/>
          <p:cNvSpPr/>
          <p:nvPr/>
        </p:nvSpPr>
        <p:spPr>
          <a:xfrm>
            <a:off x="2560320" y="1188720"/>
            <a:ext cx="1920240" cy="1005840"/>
          </a:xfrm>
          <a:prstGeom prst="roundRect">
            <a:avLst>
              <a:gd name="adj" fmla="val 7273"/>
            </a:avLst>
          </a:prstGeom>
          <a:solidFill>
            <a:srgbClr val="EEF3F8"/>
          </a:solidFill>
          <a:ln w="9525">
            <a:solidFill>
              <a:srgbClr val="D3DBE6"/>
            </a:solidFill>
            <a:prstDash val="solid"/>
          </a:ln>
        </p:spPr>
      </p:sp>
      <p:sp>
        <p:nvSpPr>
          <p:cNvPr id="8" name="Text 5"/>
          <p:cNvSpPr txBox="1"/>
          <p:nvPr/>
        </p:nvSpPr>
        <p:spPr>
          <a:xfrm>
            <a:off x="2697480" y="1280160"/>
            <a:ext cx="1691640" cy="365760"/>
          </a:xfrm>
          <a:prstGeom prst="rect">
            <a:avLst/>
          </a:prstGeom>
          <a:noFill/>
          <a:ln/>
        </p:spPr>
        <p:txBody>
          <a:bodyPr wrap="square" lIns="0" tIns="0" rIns="0" bIns="0" rtlCol="0" anchor="t"/>
          <a:lstStyle/>
          <a:p>
            <a:pPr indent="0" marL="0">
              <a:buNone/>
            </a:pPr>
            <a:r>
              <a:rPr lang="en-US" sz="1600" b="1" dirty="0">
                <a:solidFill>
                  <a:srgbClr val="0F8B8D"/>
                </a:solidFill>
                <a:latin typeface="Calibri" pitchFamily="34" charset="0"/>
                <a:ea typeface="Calibri" pitchFamily="34" charset="-122"/>
                <a:cs typeface="Calibri" pitchFamily="34" charset="-120"/>
              </a:rPr>
              <a:t>JavaScript</a:t>
            </a:r>
            <a:endParaRPr lang="en-US" sz="1600" dirty="0"/>
          </a:p>
        </p:txBody>
      </p:sp>
      <p:sp>
        <p:nvSpPr>
          <p:cNvPr id="9" name="Text 6"/>
          <p:cNvSpPr txBox="1"/>
          <p:nvPr/>
        </p:nvSpPr>
        <p:spPr>
          <a:xfrm>
            <a:off x="2697480" y="1691640"/>
            <a:ext cx="1691640" cy="411480"/>
          </a:xfrm>
          <a:prstGeom prst="rect">
            <a:avLst/>
          </a:prstGeom>
          <a:noFill/>
          <a:ln/>
        </p:spPr>
        <p:txBody>
          <a:bodyPr wrap="square" lIns="0" tIns="0" rIns="0" bIns="0" rtlCol="0" anchor="t"/>
          <a:lstStyle/>
          <a:p>
            <a:pPr indent="0" marL="0">
              <a:buNone/>
            </a:pPr>
            <a:r>
              <a:rPr lang="en-US" sz="1200" dirty="0">
                <a:solidFill>
                  <a:srgbClr val="5B6B7D"/>
                </a:solidFill>
                <a:latin typeface="Calibri" pitchFamily="34" charset="0"/>
                <a:ea typeface="Calibri" pitchFamily="34" charset="-122"/>
                <a:cs typeface="Calibri" pitchFamily="34" charset="-120"/>
              </a:rPr>
              <a:t>four algorithms, UI</a:t>
            </a:r>
            <a:endParaRPr lang="en-US" sz="1200" dirty="0"/>
          </a:p>
        </p:txBody>
      </p:sp>
      <p:sp>
        <p:nvSpPr>
          <p:cNvPr id="10" name="Shape 7"/>
          <p:cNvSpPr/>
          <p:nvPr/>
        </p:nvSpPr>
        <p:spPr>
          <a:xfrm>
            <a:off x="4663440" y="1188720"/>
            <a:ext cx="1920240" cy="1005840"/>
          </a:xfrm>
          <a:prstGeom prst="roundRect">
            <a:avLst>
              <a:gd name="adj" fmla="val 7273"/>
            </a:avLst>
          </a:prstGeom>
          <a:solidFill>
            <a:srgbClr val="EEF3F8"/>
          </a:solidFill>
          <a:ln w="9525">
            <a:solidFill>
              <a:srgbClr val="D3DBE6"/>
            </a:solidFill>
            <a:prstDash val="solid"/>
          </a:ln>
        </p:spPr>
      </p:sp>
      <p:sp>
        <p:nvSpPr>
          <p:cNvPr id="11" name="Text 8"/>
          <p:cNvSpPr txBox="1"/>
          <p:nvPr/>
        </p:nvSpPr>
        <p:spPr>
          <a:xfrm>
            <a:off x="4800600" y="1280160"/>
            <a:ext cx="1691640" cy="365760"/>
          </a:xfrm>
          <a:prstGeom prst="rect">
            <a:avLst/>
          </a:prstGeom>
          <a:noFill/>
          <a:ln/>
        </p:spPr>
        <p:txBody>
          <a:bodyPr wrap="square" lIns="0" tIns="0" rIns="0" bIns="0" rtlCol="0" anchor="t"/>
          <a:lstStyle/>
          <a:p>
            <a:pPr indent="0" marL="0">
              <a:buNone/>
            </a:pPr>
            <a:r>
              <a:rPr lang="en-US" sz="1600" b="1" dirty="0">
                <a:solidFill>
                  <a:srgbClr val="0F8B8D"/>
                </a:solidFill>
                <a:latin typeface="Calibri" pitchFamily="34" charset="0"/>
                <a:ea typeface="Calibri" pitchFamily="34" charset="-122"/>
                <a:cs typeface="Calibri" pitchFamily="34" charset="-120"/>
              </a:rPr>
              <a:t>SVG</a:t>
            </a:r>
            <a:endParaRPr lang="en-US" sz="1600" dirty="0"/>
          </a:p>
        </p:txBody>
      </p:sp>
      <p:sp>
        <p:nvSpPr>
          <p:cNvPr id="12" name="Text 9"/>
          <p:cNvSpPr txBox="1"/>
          <p:nvPr/>
        </p:nvSpPr>
        <p:spPr>
          <a:xfrm>
            <a:off x="4800600" y="1691640"/>
            <a:ext cx="1691640" cy="411480"/>
          </a:xfrm>
          <a:prstGeom prst="rect">
            <a:avLst/>
          </a:prstGeom>
          <a:noFill/>
          <a:ln/>
        </p:spPr>
        <p:txBody>
          <a:bodyPr wrap="square" lIns="0" tIns="0" rIns="0" bIns="0" rtlCol="0" anchor="t"/>
          <a:lstStyle/>
          <a:p>
            <a:pPr indent="0" marL="0">
              <a:buNone/>
            </a:pPr>
            <a:r>
              <a:rPr lang="en-US" sz="1200" dirty="0">
                <a:solidFill>
                  <a:srgbClr val="5B6B7D"/>
                </a:solidFill>
                <a:latin typeface="Calibri" pitchFamily="34" charset="0"/>
                <a:ea typeface="Calibri" pitchFamily="34" charset="-122"/>
                <a:cs typeface="Calibri" pitchFamily="34" charset="-120"/>
              </a:rPr>
              <a:t>comparison bar chart</a:t>
            </a:r>
            <a:endParaRPr lang="en-US" sz="1200" dirty="0"/>
          </a:p>
        </p:txBody>
      </p:sp>
      <p:sp>
        <p:nvSpPr>
          <p:cNvPr id="13" name="Shape 10"/>
          <p:cNvSpPr/>
          <p:nvPr/>
        </p:nvSpPr>
        <p:spPr>
          <a:xfrm>
            <a:off x="6766560" y="1188720"/>
            <a:ext cx="1920240" cy="1005840"/>
          </a:xfrm>
          <a:prstGeom prst="roundRect">
            <a:avLst>
              <a:gd name="adj" fmla="val 7273"/>
            </a:avLst>
          </a:prstGeom>
          <a:solidFill>
            <a:srgbClr val="EEF3F8"/>
          </a:solidFill>
          <a:ln w="9525">
            <a:solidFill>
              <a:srgbClr val="D3DBE6"/>
            </a:solidFill>
            <a:prstDash val="solid"/>
          </a:ln>
        </p:spPr>
      </p:sp>
      <p:sp>
        <p:nvSpPr>
          <p:cNvPr id="14" name="Text 11"/>
          <p:cNvSpPr txBox="1"/>
          <p:nvPr/>
        </p:nvSpPr>
        <p:spPr>
          <a:xfrm>
            <a:off x="6903720" y="1280160"/>
            <a:ext cx="1691640" cy="365760"/>
          </a:xfrm>
          <a:prstGeom prst="rect">
            <a:avLst/>
          </a:prstGeom>
          <a:noFill/>
          <a:ln/>
        </p:spPr>
        <p:txBody>
          <a:bodyPr wrap="square" lIns="0" tIns="0" rIns="0" bIns="0" rtlCol="0" anchor="t"/>
          <a:lstStyle/>
          <a:p>
            <a:pPr indent="0" marL="0">
              <a:buNone/>
            </a:pPr>
            <a:r>
              <a:rPr lang="en-US" sz="1600" b="1" dirty="0">
                <a:solidFill>
                  <a:srgbClr val="0F8B8D"/>
                </a:solidFill>
                <a:latin typeface="Calibri" pitchFamily="34" charset="0"/>
                <a:ea typeface="Calibri" pitchFamily="34" charset="-122"/>
                <a:cs typeface="Calibri" pitchFamily="34" charset="-120"/>
              </a:rPr>
              <a:t>Node.js</a:t>
            </a:r>
            <a:endParaRPr lang="en-US" sz="1600" dirty="0"/>
          </a:p>
        </p:txBody>
      </p:sp>
      <p:sp>
        <p:nvSpPr>
          <p:cNvPr id="15" name="Text 12"/>
          <p:cNvSpPr txBox="1"/>
          <p:nvPr/>
        </p:nvSpPr>
        <p:spPr>
          <a:xfrm>
            <a:off x="6903720" y="1691640"/>
            <a:ext cx="1691640" cy="411480"/>
          </a:xfrm>
          <a:prstGeom prst="rect">
            <a:avLst/>
          </a:prstGeom>
          <a:noFill/>
          <a:ln/>
        </p:spPr>
        <p:txBody>
          <a:bodyPr wrap="square" lIns="0" tIns="0" rIns="0" bIns="0" rtlCol="0" anchor="t"/>
          <a:lstStyle/>
          <a:p>
            <a:pPr indent="0" marL="0">
              <a:buNone/>
            </a:pPr>
            <a:r>
              <a:rPr lang="en-US" sz="1200" dirty="0">
                <a:solidFill>
                  <a:srgbClr val="5B6B7D"/>
                </a:solidFill>
                <a:latin typeface="Calibri" pitchFamily="34" charset="0"/>
                <a:ea typeface="Calibri" pitchFamily="34" charset="-122"/>
                <a:cs typeface="Calibri" pitchFamily="34" charset="-120"/>
              </a:rPr>
              <a:t>tests only</a:t>
            </a:r>
            <a:endParaRPr lang="en-US" sz="1200" dirty="0"/>
          </a:p>
        </p:txBody>
      </p:sp>
      <p:sp>
        <p:nvSpPr>
          <p:cNvPr id="16" name="Text 13"/>
          <p:cNvSpPr txBox="1"/>
          <p:nvPr/>
        </p:nvSpPr>
        <p:spPr>
          <a:xfrm>
            <a:off x="457200" y="2560320"/>
            <a:ext cx="8229600" cy="20116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A49"/>
                </a:solidFill>
                <a:latin typeface="Calibri" pitchFamily="34" charset="0"/>
                <a:ea typeface="Calibri" pitchFamily="34" charset="-122"/>
                <a:cs typeface="Calibri" pitchFamily="34" charset="-120"/>
              </a:rPr>
              <a:t>Engine functions are pure: no DOM access, easy to test</a:t>
            </a:r>
            <a:endParaRPr lang="en-US" sz="1600" dirty="0"/>
          </a:p>
          <a:p>
            <a:pPr marL="342900" indent="-342900">
              <a:spcAft>
                <a:spcPts val="600"/>
              </a:spcAft>
              <a:buSzPct val="100000"/>
              <a:buChar char="•"/>
            </a:pPr>
            <a:r>
              <a:rPr lang="en-US" sz="1600" dirty="0">
                <a:solidFill>
                  <a:srgbClr val="1B2A49"/>
                </a:solidFill>
                <a:latin typeface="Calibri" pitchFamily="34" charset="0"/>
                <a:ea typeface="Calibri" pitchFamily="34" charset="-122"/>
                <a:cs typeface="Calibri" pitchFamily="34" charset="-120"/>
              </a:rPr>
              <a:t>All four algorithms return the same trace format</a:t>
            </a:r>
            <a:endParaRPr lang="en-US" sz="1600" dirty="0"/>
          </a:p>
          <a:p>
            <a:pPr marL="342900" indent="-342900">
              <a:spcAft>
                <a:spcPts val="600"/>
              </a:spcAft>
              <a:buSzPct val="100000"/>
              <a:buChar char="•"/>
            </a:pPr>
            <a:r>
              <a:rPr lang="en-US" sz="1600" dirty="0">
                <a:solidFill>
                  <a:srgbClr val="1B2A49"/>
                </a:solidFill>
                <a:latin typeface="Calibri" pitchFamily="34" charset="0"/>
                <a:ea typeface="Calibri" pitchFamily="34" charset="-122"/>
                <a:cs typeface="Calibri" pitchFamily="34" charset="-120"/>
              </a:rPr>
              <a:t>Input is validated: whole numbers only, 1 to 7 frames, up to 60 references</a:t>
            </a:r>
            <a:endParaRPr lang="en-US" sz="1600" dirty="0"/>
          </a:p>
          <a:p>
            <a:pPr marL="342900" indent="-342900">
              <a:spcAft>
                <a:spcPts val="600"/>
              </a:spcAft>
              <a:buSzPct val="100000"/>
              <a:buChar char="•"/>
            </a:pPr>
            <a:r>
              <a:rPr lang="en-US" sz="1600" dirty="0">
                <a:solidFill>
                  <a:srgbClr val="1B2A49"/>
                </a:solidFill>
                <a:latin typeface="Calibri" pitchFamily="34" charset="0"/>
                <a:ea typeface="Calibri" pitchFamily="34" charset="-122"/>
                <a:cs typeface="Calibri" pitchFamily="34" charset="-120"/>
              </a:rPr>
              <a:t>Runs by double-clicking index.html; no network needed</a:t>
            </a:r>
            <a:endParaRPr lang="en-US" sz="1600" dirty="0"/>
          </a:p>
          <a:p>
            <a:pPr marL="342900" indent="-342900">
              <a:spcAft>
                <a:spcPts val="600"/>
              </a:spcAft>
              <a:buSzPct val="100000"/>
              <a:buChar char="•"/>
            </a:pPr>
            <a:r>
              <a:rPr lang="en-US" sz="1600" dirty="0">
                <a:solidFill>
                  <a:srgbClr val="1B2A49"/>
                </a:solidFill>
                <a:latin typeface="Calibri" pitchFamily="34" charset="0"/>
                <a:ea typeface="Calibri" pitchFamily="34" charset="-122"/>
                <a:cs typeface="Calibri" pitchFamily="34" charset="-120"/>
              </a:rPr>
              <a:t>Educational model only: it does not touch real system memory</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D"/>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1B2A49"/>
                </a:solidFill>
              </a:rPr>
              <a:t>Test plan</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5303520" cy="914400"/>
        </p:xfrm>
        <a:graphic>
          <a:graphicData uri="http://schemas.openxmlformats.org/drawingml/2006/table">
            <a:tbl>
              <a:tblPr/>
              <a:tblGrid>
                <a:gridCol w="2011680"/>
                <a:gridCol w="914400"/>
                <a:gridCol w="2377440"/>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Case</a:t>
                      </a:r>
                      <a:endParaRPr lang="en-US" sz="1200" dirty="0">
                        <a:latin typeface="Calibri" charset="0"/>
                        <a:ea typeface="Calibri" charset="0"/>
                        <a:cs typeface="Calibri" charset="0"/>
                      </a:endParaRPr>
                    </a:p>
                  </a:txBody>
                  <a:tcPr marL="91440" marR="91440" marT="45720" marB="45720">
                    <a:lnL w="9525" cap="flat" cmpd="sng" algn="ctr">
                      <a:solidFill>
                        <a:srgbClr val="D3DBE6"/>
                      </a:solidFill>
                      <a:prstDash val="solid"/>
                      <a:round/>
                      <a:headEnd type="none" w="med" len="med"/>
                      <a:tailEnd type="none" w="med" len="med"/>
                    </a:lnL>
                    <a:lnR w="9525" cap="flat" cmpd="sng" algn="ctr">
                      <a:solidFill>
                        <a:srgbClr val="D3DBE6"/>
                      </a:solidFill>
                      <a:prstDash val="solid"/>
                      <a:round/>
                      <a:headEnd type="none" w="med" len="med"/>
                      <a:tailEnd type="none" w="med" len="med"/>
                    </a:lnR>
                    <a:lnT w="9525" cap="flat" cmpd="sng" algn="ctr">
                      <a:solidFill>
                        <a:srgbClr val="D3DBE6"/>
                      </a:solidFill>
                      <a:prstDash val="solid"/>
                      <a:round/>
                      <a:headEnd type="none" w="med" len="med"/>
                      <a:tailEnd type="none" w="med" len="med"/>
                    </a:lnT>
                    <a:lnB w="9525" cap="flat" cmpd="sng" algn="ctr">
                      <a:solidFill>
                        <a:srgbClr val="D3DBE6"/>
                      </a:solidFill>
                      <a:prstDash val="solid"/>
                      <a:round/>
                      <a:headEnd type="none" w="med" len="med"/>
                      <a:tailEnd type="none" w="med" len="med"/>
                    </a:lnB>
                    <a:solidFill>
                      <a:srgbClr val="1B2A49"/>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Frames</a:t>
                      </a:r>
                      <a:endParaRPr lang="en-US" sz="1200" dirty="0">
                        <a:latin typeface="Calibri" charset="0"/>
                        <a:ea typeface="Calibri" charset="0"/>
                        <a:cs typeface="Calibri" charset="0"/>
                      </a:endParaRPr>
                    </a:p>
                  </a:txBody>
                  <a:tcPr marL="91440" marR="91440" marT="45720" marB="45720">
                    <a:lnL w="9525" cap="flat" cmpd="sng" algn="ctr">
                      <a:solidFill>
                        <a:srgbClr val="D3DBE6"/>
                      </a:solidFill>
                      <a:prstDash val="solid"/>
                      <a:round/>
                      <a:headEnd type="none" w="med" len="med"/>
                      <a:tailEnd type="none" w="med" len="med"/>
                    </a:lnL>
                    <a:lnR w="9525" cap="flat" cmpd="sng" algn="ctr">
                      <a:solidFill>
                        <a:srgbClr val="D3DBE6"/>
                      </a:solidFill>
                      <a:prstDash val="solid"/>
                      <a:round/>
                      <a:headEnd type="none" w="med" len="med"/>
                      <a:tailEnd type="none" w="med" len="med"/>
                    </a:lnR>
                    <a:lnT w="9525" cap="flat" cmpd="sng" algn="ctr">
                      <a:solidFill>
                        <a:srgbClr val="D3DBE6"/>
                      </a:solidFill>
                      <a:prstDash val="solid"/>
                      <a:round/>
                      <a:headEnd type="none" w="med" len="med"/>
                      <a:tailEnd type="none" w="med" len="med"/>
                    </a:lnT>
                    <a:lnB w="9525" cap="flat" cmpd="sng" algn="ctr">
                      <a:solidFill>
                        <a:srgbClr val="D3DBE6"/>
                      </a:solidFill>
                      <a:prstDash val="solid"/>
                      <a:round/>
                      <a:headEnd type="none" w="med" len="med"/>
                      <a:tailEnd type="none" w="med" len="med"/>
                    </a:lnB>
                    <a:solidFill>
                      <a:srgbClr val="1B2A49"/>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Expected check</a:t>
                      </a:r>
                      <a:endParaRPr lang="en-US" sz="1200" dirty="0">
                        <a:latin typeface="Calibri" charset="0"/>
                        <a:ea typeface="Calibri" charset="0"/>
                        <a:cs typeface="Calibri" charset="0"/>
                      </a:endParaRPr>
                    </a:p>
                  </a:txBody>
                  <a:tcPr marL="91440" marR="91440" marT="45720" marB="45720">
                    <a:lnL w="9525" cap="flat" cmpd="sng" algn="ctr">
                      <a:solidFill>
                        <a:srgbClr val="D3DBE6"/>
                      </a:solidFill>
                      <a:prstDash val="solid"/>
                      <a:round/>
                      <a:headEnd type="none" w="med" len="med"/>
                      <a:tailEnd type="none" w="med" len="med"/>
                    </a:lnL>
                    <a:lnR w="9525" cap="flat" cmpd="sng" algn="ctr">
                      <a:solidFill>
                        <a:srgbClr val="D3DBE6"/>
                      </a:solidFill>
                      <a:prstDash val="solid"/>
                      <a:round/>
                      <a:headEnd type="none" w="med" len="med"/>
                      <a:tailEnd type="none" w="med" len="med"/>
                    </a:lnR>
                    <a:lnT w="9525" cap="flat" cmpd="sng" algn="ctr">
                      <a:solidFill>
                        <a:srgbClr val="D3DBE6"/>
                      </a:solidFill>
                      <a:prstDash val="solid"/>
                      <a:round/>
                      <a:headEnd type="none" w="med" len="med"/>
                      <a:tailEnd type="none" w="med" len="med"/>
                    </a:lnT>
                    <a:lnB w="9525" cap="flat" cmpd="sng" algn="ctr">
                      <a:solidFill>
                        <a:srgbClr val="D3DBE6"/>
                      </a:solidFill>
                      <a:prstDash val="solid"/>
                      <a:round/>
                      <a:headEnd type="none" w="med" len="med"/>
                      <a:tailEnd type="none" w="med" len="med"/>
                    </a:lnB>
                    <a:solidFill>
                      <a:srgbClr val="1B2A49"/>
                    </a:solidFill>
                  </a:tcPr>
                </a:tc>
              </a:tr>
              <a:tr h="347472">
                <a:tc>
                  <a:txBody>
                    <a:bodyPr/>
                    <a:lstStyle/>
                    <a:p>
                      <a:pPr indent="0" marL="0">
                        <a:buNone/>
                      </a:pPr>
                      <a:r>
                        <a:rPr lang="en-US" sz="1200" dirty="0">
                          <a:solidFill>
                            <a:srgbClr val="1B2A49"/>
                          </a:solidFill>
                          <a:latin typeface="Calibri" pitchFamily="34" charset="0"/>
                          <a:ea typeface="Calibri" pitchFamily="34" charset="-122"/>
                          <a:cs typeface="Calibri" pitchFamily="34" charset="-120"/>
                        </a:rPr>
                        <a:t>Textbook (20 refs)</a:t>
                      </a:r>
                      <a:endParaRPr lang="en-US" sz="1200" dirty="0">
                        <a:latin typeface="Calibri" charset="0"/>
                        <a:ea typeface="Calibri" charset="0"/>
                        <a:cs typeface="Calibri" charset="0"/>
                      </a:endParaRPr>
                    </a:p>
                  </a:txBody>
                  <a:tcPr marL="91440" marR="91440" marT="45720" marB="45720">
                    <a:lnL w="9525" cap="flat" cmpd="sng" algn="ctr">
                      <a:solidFill>
                        <a:srgbClr val="D3DBE6"/>
                      </a:solidFill>
                      <a:prstDash val="solid"/>
                      <a:round/>
                      <a:headEnd type="none" w="med" len="med"/>
                      <a:tailEnd type="none" w="med" len="med"/>
                    </a:lnL>
                    <a:lnR w="9525" cap="flat" cmpd="sng" algn="ctr">
                      <a:solidFill>
                        <a:srgbClr val="D3DBE6"/>
                      </a:solidFill>
                      <a:prstDash val="solid"/>
                      <a:round/>
                      <a:headEnd type="none" w="med" len="med"/>
                      <a:tailEnd type="none" w="med" len="med"/>
                    </a:lnR>
                    <a:lnT w="9525" cap="flat" cmpd="sng" algn="ctr">
                      <a:solidFill>
                        <a:srgbClr val="D3DBE6"/>
                      </a:solidFill>
                      <a:prstDash val="solid"/>
                      <a:round/>
                      <a:headEnd type="none" w="med" len="med"/>
                      <a:tailEnd type="none" w="med" len="med"/>
                    </a:lnT>
                    <a:lnB w="9525" cap="flat" cmpd="sng" algn="ctr">
                      <a:solidFill>
                        <a:srgbClr val="D3DBE6"/>
                      </a:solidFill>
                      <a:prstDash val="solid"/>
                      <a:round/>
                      <a:headEnd type="none" w="med" len="med"/>
                      <a:tailEnd type="none" w="med" len="med"/>
                    </a:lnB>
                  </a:tcPr>
                </a:tc>
                <a:tc>
                  <a:txBody>
                    <a:bodyPr/>
                    <a:lstStyle/>
                    <a:p>
                      <a:pPr indent="0" marL="0">
                        <a:buNone/>
                      </a:pPr>
                      <a:r>
                        <a:rPr lang="en-US" sz="1200" dirty="0">
                          <a:solidFill>
                            <a:srgbClr val="1B2A49"/>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lnL w="9525" cap="flat" cmpd="sng" algn="ctr">
                      <a:solidFill>
                        <a:srgbClr val="D3DBE6"/>
                      </a:solidFill>
                      <a:prstDash val="solid"/>
                      <a:round/>
                      <a:headEnd type="none" w="med" len="med"/>
                      <a:tailEnd type="none" w="med" len="med"/>
                    </a:lnL>
                    <a:lnR w="9525" cap="flat" cmpd="sng" algn="ctr">
                      <a:solidFill>
                        <a:srgbClr val="D3DBE6"/>
                      </a:solidFill>
                      <a:prstDash val="solid"/>
                      <a:round/>
                      <a:headEnd type="none" w="med" len="med"/>
                      <a:tailEnd type="none" w="med" len="med"/>
                    </a:lnR>
                    <a:lnT w="9525" cap="flat" cmpd="sng" algn="ctr">
                      <a:solidFill>
                        <a:srgbClr val="D3DBE6"/>
                      </a:solidFill>
                      <a:prstDash val="solid"/>
                      <a:round/>
                      <a:headEnd type="none" w="med" len="med"/>
                      <a:tailEnd type="none" w="med" len="med"/>
                    </a:lnT>
                    <a:lnB w="9525" cap="flat" cmpd="sng" algn="ctr">
                      <a:solidFill>
                        <a:srgbClr val="D3DBE6"/>
                      </a:solidFill>
                      <a:prstDash val="solid"/>
                      <a:round/>
                      <a:headEnd type="none" w="med" len="med"/>
                      <a:tailEnd type="none" w="med" len="med"/>
                    </a:lnB>
                  </a:tcPr>
                </a:tc>
                <a:tc>
                  <a:txBody>
                    <a:bodyPr/>
                    <a:lstStyle/>
                    <a:p>
                      <a:pPr indent="0" marL="0">
                        <a:buNone/>
                      </a:pPr>
                      <a:r>
                        <a:rPr lang="en-US" sz="1200" dirty="0">
                          <a:solidFill>
                            <a:srgbClr val="1B2A49"/>
                          </a:solidFill>
                          <a:latin typeface="Calibri" pitchFamily="34" charset="0"/>
                          <a:ea typeface="Calibri" pitchFamily="34" charset="-122"/>
                          <a:cs typeface="Calibri" pitchFamily="34" charset="-120"/>
                        </a:rPr>
                        <a:t>FIFO 15, LRU 12, Optimal 9</a:t>
                      </a:r>
                      <a:endParaRPr lang="en-US" sz="1200" dirty="0">
                        <a:latin typeface="Calibri" charset="0"/>
                        <a:ea typeface="Calibri" charset="0"/>
                        <a:cs typeface="Calibri" charset="0"/>
                      </a:endParaRPr>
                    </a:p>
                  </a:txBody>
                  <a:tcPr marL="91440" marR="91440" marT="45720" marB="45720">
                    <a:lnL w="9525" cap="flat" cmpd="sng" algn="ctr">
                      <a:solidFill>
                        <a:srgbClr val="D3DBE6"/>
                      </a:solidFill>
                      <a:prstDash val="solid"/>
                      <a:round/>
                      <a:headEnd type="none" w="med" len="med"/>
                      <a:tailEnd type="none" w="med" len="med"/>
                    </a:lnL>
                    <a:lnR w="9525" cap="flat" cmpd="sng" algn="ctr">
                      <a:solidFill>
                        <a:srgbClr val="D3DBE6"/>
                      </a:solidFill>
                      <a:prstDash val="solid"/>
                      <a:round/>
                      <a:headEnd type="none" w="med" len="med"/>
                      <a:tailEnd type="none" w="med" len="med"/>
                    </a:lnR>
                    <a:lnT w="9525" cap="flat" cmpd="sng" algn="ctr">
                      <a:solidFill>
                        <a:srgbClr val="D3DBE6"/>
                      </a:solidFill>
                      <a:prstDash val="solid"/>
                      <a:round/>
                      <a:headEnd type="none" w="med" len="med"/>
                      <a:tailEnd type="none" w="med" len="med"/>
                    </a:lnT>
                    <a:lnB w="9525" cap="flat" cmpd="sng" algn="ctr">
                      <a:solidFill>
                        <a:srgbClr val="D3DBE6"/>
                      </a:solidFill>
                      <a:prstDash val="solid"/>
                      <a:round/>
                      <a:headEnd type="none" w="med" len="med"/>
                      <a:tailEnd type="none" w="med" len="med"/>
                    </a:lnB>
                  </a:tcPr>
                </a:tc>
              </a:tr>
              <a:tr h="347472">
                <a:tc>
                  <a:txBody>
                    <a:bodyPr/>
                    <a:lstStyle/>
                    <a:p>
                      <a:pPr indent="0" marL="0">
                        <a:buNone/>
                      </a:pPr>
                      <a:r>
                        <a:rPr lang="en-US" sz="1200" dirty="0">
                          <a:solidFill>
                            <a:srgbClr val="1B2A49"/>
                          </a:solidFill>
                          <a:latin typeface="Calibri" pitchFamily="34" charset="0"/>
                          <a:ea typeface="Calibri" pitchFamily="34" charset="-122"/>
                          <a:cs typeface="Calibri" pitchFamily="34" charset="-120"/>
                        </a:rPr>
                        <a:t>Belady string</a:t>
                      </a:r>
                      <a:endParaRPr lang="en-US" sz="1200" dirty="0">
                        <a:latin typeface="Calibri" charset="0"/>
                        <a:ea typeface="Calibri" charset="0"/>
                        <a:cs typeface="Calibri" charset="0"/>
                      </a:endParaRPr>
                    </a:p>
                  </a:txBody>
                  <a:tcPr marL="91440" marR="91440" marT="45720" marB="45720">
                    <a:lnL w="9525" cap="flat" cmpd="sng" algn="ctr">
                      <a:solidFill>
                        <a:srgbClr val="D3DBE6"/>
                      </a:solidFill>
                      <a:prstDash val="solid"/>
                      <a:round/>
                      <a:headEnd type="none" w="med" len="med"/>
                      <a:tailEnd type="none" w="med" len="med"/>
                    </a:lnL>
                    <a:lnR w="9525" cap="flat" cmpd="sng" algn="ctr">
                      <a:solidFill>
                        <a:srgbClr val="D3DBE6"/>
                      </a:solidFill>
                      <a:prstDash val="solid"/>
                      <a:round/>
                      <a:headEnd type="none" w="med" len="med"/>
                      <a:tailEnd type="none" w="med" len="med"/>
                    </a:lnR>
                    <a:lnT w="9525" cap="flat" cmpd="sng" algn="ctr">
                      <a:solidFill>
                        <a:srgbClr val="D3DBE6"/>
                      </a:solidFill>
                      <a:prstDash val="solid"/>
                      <a:round/>
                      <a:headEnd type="none" w="med" len="med"/>
                      <a:tailEnd type="none" w="med" len="med"/>
                    </a:lnT>
                    <a:lnB w="9525" cap="flat" cmpd="sng" algn="ctr">
                      <a:solidFill>
                        <a:srgbClr val="D3DBE6"/>
                      </a:solidFill>
                      <a:prstDash val="solid"/>
                      <a:round/>
                      <a:headEnd type="none" w="med" len="med"/>
                      <a:tailEnd type="none" w="med" len="med"/>
                    </a:lnB>
                  </a:tcPr>
                </a:tc>
                <a:tc>
                  <a:txBody>
                    <a:bodyPr/>
                    <a:lstStyle/>
                    <a:p>
                      <a:pPr indent="0" marL="0">
                        <a:buNone/>
                      </a:pPr>
                      <a:r>
                        <a:rPr lang="en-US" sz="1200" dirty="0">
                          <a:solidFill>
                            <a:srgbClr val="1B2A49"/>
                          </a:solidFill>
                          <a:latin typeface="Calibri" pitchFamily="34" charset="0"/>
                          <a:ea typeface="Calibri" pitchFamily="34" charset="-122"/>
                          <a:cs typeface="Calibri" pitchFamily="34" charset="-120"/>
                        </a:rPr>
                        <a:t>3 and 4</a:t>
                      </a:r>
                      <a:endParaRPr lang="en-US" sz="1200" dirty="0">
                        <a:latin typeface="Calibri" charset="0"/>
                        <a:ea typeface="Calibri" charset="0"/>
                        <a:cs typeface="Calibri" charset="0"/>
                      </a:endParaRPr>
                    </a:p>
                  </a:txBody>
                  <a:tcPr marL="91440" marR="91440" marT="45720" marB="45720">
                    <a:lnL w="9525" cap="flat" cmpd="sng" algn="ctr">
                      <a:solidFill>
                        <a:srgbClr val="D3DBE6"/>
                      </a:solidFill>
                      <a:prstDash val="solid"/>
                      <a:round/>
                      <a:headEnd type="none" w="med" len="med"/>
                      <a:tailEnd type="none" w="med" len="med"/>
                    </a:lnL>
                    <a:lnR w="9525" cap="flat" cmpd="sng" algn="ctr">
                      <a:solidFill>
                        <a:srgbClr val="D3DBE6"/>
                      </a:solidFill>
                      <a:prstDash val="solid"/>
                      <a:round/>
                      <a:headEnd type="none" w="med" len="med"/>
                      <a:tailEnd type="none" w="med" len="med"/>
                    </a:lnR>
                    <a:lnT w="9525" cap="flat" cmpd="sng" algn="ctr">
                      <a:solidFill>
                        <a:srgbClr val="D3DBE6"/>
                      </a:solidFill>
                      <a:prstDash val="solid"/>
                      <a:round/>
                      <a:headEnd type="none" w="med" len="med"/>
                      <a:tailEnd type="none" w="med" len="med"/>
                    </a:lnT>
                    <a:lnB w="9525" cap="flat" cmpd="sng" algn="ctr">
                      <a:solidFill>
                        <a:srgbClr val="D3DBE6"/>
                      </a:solidFill>
                      <a:prstDash val="solid"/>
                      <a:round/>
                      <a:headEnd type="none" w="med" len="med"/>
                      <a:tailEnd type="none" w="med" len="med"/>
                    </a:lnB>
                  </a:tcPr>
                </a:tc>
                <a:tc>
                  <a:txBody>
                    <a:bodyPr/>
                    <a:lstStyle/>
                    <a:p>
                      <a:pPr indent="0" marL="0">
                        <a:buNone/>
                      </a:pPr>
                      <a:r>
                        <a:rPr lang="en-US" sz="1200" dirty="0">
                          <a:solidFill>
                            <a:srgbClr val="1B2A49"/>
                          </a:solidFill>
                          <a:latin typeface="Calibri" pitchFamily="34" charset="0"/>
                          <a:ea typeface="Calibri" pitchFamily="34" charset="-122"/>
                          <a:cs typeface="Calibri" pitchFamily="34" charset="-120"/>
                        </a:rPr>
                        <a:t>FIFO 9 then 10</a:t>
                      </a:r>
                      <a:endParaRPr lang="en-US" sz="1200" dirty="0">
                        <a:latin typeface="Calibri" charset="0"/>
                        <a:ea typeface="Calibri" charset="0"/>
                        <a:cs typeface="Calibri" charset="0"/>
                      </a:endParaRPr>
                    </a:p>
                  </a:txBody>
                  <a:tcPr marL="91440" marR="91440" marT="45720" marB="45720">
                    <a:lnL w="9525" cap="flat" cmpd="sng" algn="ctr">
                      <a:solidFill>
                        <a:srgbClr val="D3DBE6"/>
                      </a:solidFill>
                      <a:prstDash val="solid"/>
                      <a:round/>
                      <a:headEnd type="none" w="med" len="med"/>
                      <a:tailEnd type="none" w="med" len="med"/>
                    </a:lnL>
                    <a:lnR w="9525" cap="flat" cmpd="sng" algn="ctr">
                      <a:solidFill>
                        <a:srgbClr val="D3DBE6"/>
                      </a:solidFill>
                      <a:prstDash val="solid"/>
                      <a:round/>
                      <a:headEnd type="none" w="med" len="med"/>
                      <a:tailEnd type="none" w="med" len="med"/>
                    </a:lnR>
                    <a:lnT w="9525" cap="flat" cmpd="sng" algn="ctr">
                      <a:solidFill>
                        <a:srgbClr val="D3DBE6"/>
                      </a:solidFill>
                      <a:prstDash val="solid"/>
                      <a:round/>
                      <a:headEnd type="none" w="med" len="med"/>
                      <a:tailEnd type="none" w="med" len="med"/>
                    </a:lnT>
                    <a:lnB w="9525" cap="flat" cmpd="sng" algn="ctr">
                      <a:solidFill>
                        <a:srgbClr val="D3DBE6"/>
                      </a:solidFill>
                      <a:prstDash val="solid"/>
                      <a:round/>
                      <a:headEnd type="none" w="med" len="med"/>
                      <a:tailEnd type="none" w="med" len="med"/>
                    </a:lnB>
                  </a:tcPr>
                </a:tc>
              </a:tr>
              <a:tr h="347472">
                <a:tc>
                  <a:txBody>
                    <a:bodyPr/>
                    <a:lstStyle/>
                    <a:p>
                      <a:pPr indent="0" marL="0">
                        <a:buNone/>
                      </a:pPr>
                      <a:r>
                        <a:rPr lang="en-US" sz="1200" dirty="0">
                          <a:solidFill>
                            <a:srgbClr val="1B2A49"/>
                          </a:solidFill>
                          <a:latin typeface="Calibri" pitchFamily="34" charset="0"/>
                          <a:ea typeface="Calibri" pitchFamily="34" charset="-122"/>
                          <a:cs typeface="Calibri" pitchFamily="34" charset="-120"/>
                        </a:rPr>
                        <a:t>Single frame</a:t>
                      </a:r>
                      <a:endParaRPr lang="en-US" sz="1200" dirty="0">
                        <a:latin typeface="Calibri" charset="0"/>
                        <a:ea typeface="Calibri" charset="0"/>
                        <a:cs typeface="Calibri" charset="0"/>
                      </a:endParaRPr>
                    </a:p>
                  </a:txBody>
                  <a:tcPr marL="91440" marR="91440" marT="45720" marB="45720">
                    <a:lnL w="9525" cap="flat" cmpd="sng" algn="ctr">
                      <a:solidFill>
                        <a:srgbClr val="D3DBE6"/>
                      </a:solidFill>
                      <a:prstDash val="solid"/>
                      <a:round/>
                      <a:headEnd type="none" w="med" len="med"/>
                      <a:tailEnd type="none" w="med" len="med"/>
                    </a:lnL>
                    <a:lnR w="9525" cap="flat" cmpd="sng" algn="ctr">
                      <a:solidFill>
                        <a:srgbClr val="D3DBE6"/>
                      </a:solidFill>
                      <a:prstDash val="solid"/>
                      <a:round/>
                      <a:headEnd type="none" w="med" len="med"/>
                      <a:tailEnd type="none" w="med" len="med"/>
                    </a:lnR>
                    <a:lnT w="9525" cap="flat" cmpd="sng" algn="ctr">
                      <a:solidFill>
                        <a:srgbClr val="D3DBE6"/>
                      </a:solidFill>
                      <a:prstDash val="solid"/>
                      <a:round/>
                      <a:headEnd type="none" w="med" len="med"/>
                      <a:tailEnd type="none" w="med" len="med"/>
                    </a:lnT>
                    <a:lnB w="9525" cap="flat" cmpd="sng" algn="ctr">
                      <a:solidFill>
                        <a:srgbClr val="D3DBE6"/>
                      </a:solidFill>
                      <a:prstDash val="solid"/>
                      <a:round/>
                      <a:headEnd type="none" w="med" len="med"/>
                      <a:tailEnd type="none" w="med" len="med"/>
                    </a:lnB>
                  </a:tcPr>
                </a:tc>
                <a:tc>
                  <a:txBody>
                    <a:bodyPr/>
                    <a:lstStyle/>
                    <a:p>
                      <a:pPr indent="0" marL="0">
                        <a:buNone/>
                      </a:pPr>
                      <a:r>
                        <a:rPr lang="en-US" sz="1200" dirty="0">
                          <a:solidFill>
                            <a:srgbClr val="1B2A49"/>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lnL w="9525" cap="flat" cmpd="sng" algn="ctr">
                      <a:solidFill>
                        <a:srgbClr val="D3DBE6"/>
                      </a:solidFill>
                      <a:prstDash val="solid"/>
                      <a:round/>
                      <a:headEnd type="none" w="med" len="med"/>
                      <a:tailEnd type="none" w="med" len="med"/>
                    </a:lnL>
                    <a:lnR w="9525" cap="flat" cmpd="sng" algn="ctr">
                      <a:solidFill>
                        <a:srgbClr val="D3DBE6"/>
                      </a:solidFill>
                      <a:prstDash val="solid"/>
                      <a:round/>
                      <a:headEnd type="none" w="med" len="med"/>
                      <a:tailEnd type="none" w="med" len="med"/>
                    </a:lnR>
                    <a:lnT w="9525" cap="flat" cmpd="sng" algn="ctr">
                      <a:solidFill>
                        <a:srgbClr val="D3DBE6"/>
                      </a:solidFill>
                      <a:prstDash val="solid"/>
                      <a:round/>
                      <a:headEnd type="none" w="med" len="med"/>
                      <a:tailEnd type="none" w="med" len="med"/>
                    </a:lnT>
                    <a:lnB w="9525" cap="flat" cmpd="sng" algn="ctr">
                      <a:solidFill>
                        <a:srgbClr val="D3DBE6"/>
                      </a:solidFill>
                      <a:prstDash val="solid"/>
                      <a:round/>
                      <a:headEnd type="none" w="med" len="med"/>
                      <a:tailEnd type="none" w="med" len="med"/>
                    </a:lnB>
                  </a:tcPr>
                </a:tc>
                <a:tc>
                  <a:txBody>
                    <a:bodyPr/>
                    <a:lstStyle/>
                    <a:p>
                      <a:pPr indent="0" marL="0">
                        <a:buNone/>
                      </a:pPr>
                      <a:r>
                        <a:rPr lang="en-US" sz="1200" dirty="0">
                          <a:solidFill>
                            <a:srgbClr val="1B2A49"/>
                          </a:solidFill>
                          <a:latin typeface="Calibri" pitchFamily="34" charset="0"/>
                          <a:ea typeface="Calibri" pitchFamily="34" charset="-122"/>
                          <a:cs typeface="Calibri" pitchFamily="34" charset="-120"/>
                        </a:rPr>
                        <a:t>every page change faults</a:t>
                      </a:r>
                      <a:endParaRPr lang="en-US" sz="1200" dirty="0">
                        <a:latin typeface="Calibri" charset="0"/>
                        <a:ea typeface="Calibri" charset="0"/>
                        <a:cs typeface="Calibri" charset="0"/>
                      </a:endParaRPr>
                    </a:p>
                  </a:txBody>
                  <a:tcPr marL="91440" marR="91440" marT="45720" marB="45720">
                    <a:lnL w="9525" cap="flat" cmpd="sng" algn="ctr">
                      <a:solidFill>
                        <a:srgbClr val="D3DBE6"/>
                      </a:solidFill>
                      <a:prstDash val="solid"/>
                      <a:round/>
                      <a:headEnd type="none" w="med" len="med"/>
                      <a:tailEnd type="none" w="med" len="med"/>
                    </a:lnL>
                    <a:lnR w="9525" cap="flat" cmpd="sng" algn="ctr">
                      <a:solidFill>
                        <a:srgbClr val="D3DBE6"/>
                      </a:solidFill>
                      <a:prstDash val="solid"/>
                      <a:round/>
                      <a:headEnd type="none" w="med" len="med"/>
                      <a:tailEnd type="none" w="med" len="med"/>
                    </a:lnR>
                    <a:lnT w="9525" cap="flat" cmpd="sng" algn="ctr">
                      <a:solidFill>
                        <a:srgbClr val="D3DBE6"/>
                      </a:solidFill>
                      <a:prstDash val="solid"/>
                      <a:round/>
                      <a:headEnd type="none" w="med" len="med"/>
                      <a:tailEnd type="none" w="med" len="med"/>
                    </a:lnT>
                    <a:lnB w="9525" cap="flat" cmpd="sng" algn="ctr">
                      <a:solidFill>
                        <a:srgbClr val="D3DBE6"/>
                      </a:solidFill>
                      <a:prstDash val="solid"/>
                      <a:round/>
                      <a:headEnd type="none" w="med" len="med"/>
                      <a:tailEnd type="none" w="med" len="med"/>
                    </a:lnB>
                  </a:tcPr>
                </a:tc>
              </a:tr>
              <a:tr h="347472">
                <a:tc>
                  <a:txBody>
                    <a:bodyPr/>
                    <a:lstStyle/>
                    <a:p>
                      <a:pPr indent="0" marL="0">
                        <a:buNone/>
                      </a:pPr>
                      <a:r>
                        <a:rPr lang="en-US" sz="1200" dirty="0">
                          <a:solidFill>
                            <a:srgbClr val="1B2A49"/>
                          </a:solidFill>
                          <a:latin typeface="Calibri" pitchFamily="34" charset="0"/>
                          <a:ea typeface="Calibri" pitchFamily="34" charset="-122"/>
                          <a:cs typeface="Calibri" pitchFamily="34" charset="-120"/>
                        </a:rPr>
                        <a:t>All same pages</a:t>
                      </a:r>
                      <a:endParaRPr lang="en-US" sz="1200" dirty="0">
                        <a:latin typeface="Calibri" charset="0"/>
                        <a:ea typeface="Calibri" charset="0"/>
                        <a:cs typeface="Calibri" charset="0"/>
                      </a:endParaRPr>
                    </a:p>
                  </a:txBody>
                  <a:tcPr marL="91440" marR="91440" marT="45720" marB="45720">
                    <a:lnL w="9525" cap="flat" cmpd="sng" algn="ctr">
                      <a:solidFill>
                        <a:srgbClr val="D3DBE6"/>
                      </a:solidFill>
                      <a:prstDash val="solid"/>
                      <a:round/>
                      <a:headEnd type="none" w="med" len="med"/>
                      <a:tailEnd type="none" w="med" len="med"/>
                    </a:lnL>
                    <a:lnR w="9525" cap="flat" cmpd="sng" algn="ctr">
                      <a:solidFill>
                        <a:srgbClr val="D3DBE6"/>
                      </a:solidFill>
                      <a:prstDash val="solid"/>
                      <a:round/>
                      <a:headEnd type="none" w="med" len="med"/>
                      <a:tailEnd type="none" w="med" len="med"/>
                    </a:lnR>
                    <a:lnT w="9525" cap="flat" cmpd="sng" algn="ctr">
                      <a:solidFill>
                        <a:srgbClr val="D3DBE6"/>
                      </a:solidFill>
                      <a:prstDash val="solid"/>
                      <a:round/>
                      <a:headEnd type="none" w="med" len="med"/>
                      <a:tailEnd type="none" w="med" len="med"/>
                    </a:lnT>
                    <a:lnB w="9525" cap="flat" cmpd="sng" algn="ctr">
                      <a:solidFill>
                        <a:srgbClr val="D3DBE6"/>
                      </a:solidFill>
                      <a:prstDash val="solid"/>
                      <a:round/>
                      <a:headEnd type="none" w="med" len="med"/>
                      <a:tailEnd type="none" w="med" len="med"/>
                    </a:lnB>
                  </a:tcPr>
                </a:tc>
                <a:tc>
                  <a:txBody>
                    <a:bodyPr/>
                    <a:lstStyle/>
                    <a:p>
                      <a:pPr indent="0" marL="0">
                        <a:buNone/>
                      </a:pPr>
                      <a:r>
                        <a:rPr lang="en-US" sz="1200" dirty="0">
                          <a:solidFill>
                            <a:srgbClr val="1B2A49"/>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lnL w="9525" cap="flat" cmpd="sng" algn="ctr">
                      <a:solidFill>
                        <a:srgbClr val="D3DBE6"/>
                      </a:solidFill>
                      <a:prstDash val="solid"/>
                      <a:round/>
                      <a:headEnd type="none" w="med" len="med"/>
                      <a:tailEnd type="none" w="med" len="med"/>
                    </a:lnL>
                    <a:lnR w="9525" cap="flat" cmpd="sng" algn="ctr">
                      <a:solidFill>
                        <a:srgbClr val="D3DBE6"/>
                      </a:solidFill>
                      <a:prstDash val="solid"/>
                      <a:round/>
                      <a:headEnd type="none" w="med" len="med"/>
                      <a:tailEnd type="none" w="med" len="med"/>
                    </a:lnR>
                    <a:lnT w="9525" cap="flat" cmpd="sng" algn="ctr">
                      <a:solidFill>
                        <a:srgbClr val="D3DBE6"/>
                      </a:solidFill>
                      <a:prstDash val="solid"/>
                      <a:round/>
                      <a:headEnd type="none" w="med" len="med"/>
                      <a:tailEnd type="none" w="med" len="med"/>
                    </a:lnT>
                    <a:lnB w="9525" cap="flat" cmpd="sng" algn="ctr">
                      <a:solidFill>
                        <a:srgbClr val="D3DBE6"/>
                      </a:solidFill>
                      <a:prstDash val="solid"/>
                      <a:round/>
                      <a:headEnd type="none" w="med" len="med"/>
                      <a:tailEnd type="none" w="med" len="med"/>
                    </a:lnB>
                  </a:tcPr>
                </a:tc>
                <a:tc>
                  <a:txBody>
                    <a:bodyPr/>
                    <a:lstStyle/>
                    <a:p>
                      <a:pPr indent="0" marL="0">
                        <a:buNone/>
                      </a:pPr>
                      <a:r>
                        <a:rPr lang="en-US" sz="1200" dirty="0">
                          <a:solidFill>
                            <a:srgbClr val="1B2A49"/>
                          </a:solidFill>
                          <a:latin typeface="Calibri" pitchFamily="34" charset="0"/>
                          <a:ea typeface="Calibri" pitchFamily="34" charset="-122"/>
                          <a:cs typeface="Calibri" pitchFamily="34" charset="-120"/>
                        </a:rPr>
                        <a:t>1 fault</a:t>
                      </a:r>
                      <a:endParaRPr lang="en-US" sz="1200" dirty="0">
                        <a:latin typeface="Calibri" charset="0"/>
                        <a:ea typeface="Calibri" charset="0"/>
                        <a:cs typeface="Calibri" charset="0"/>
                      </a:endParaRPr>
                    </a:p>
                  </a:txBody>
                  <a:tcPr marL="91440" marR="91440" marT="45720" marB="45720">
                    <a:lnL w="9525" cap="flat" cmpd="sng" algn="ctr">
                      <a:solidFill>
                        <a:srgbClr val="D3DBE6"/>
                      </a:solidFill>
                      <a:prstDash val="solid"/>
                      <a:round/>
                      <a:headEnd type="none" w="med" len="med"/>
                      <a:tailEnd type="none" w="med" len="med"/>
                    </a:lnL>
                    <a:lnR w="9525" cap="flat" cmpd="sng" algn="ctr">
                      <a:solidFill>
                        <a:srgbClr val="D3DBE6"/>
                      </a:solidFill>
                      <a:prstDash val="solid"/>
                      <a:round/>
                      <a:headEnd type="none" w="med" len="med"/>
                      <a:tailEnd type="none" w="med" len="med"/>
                    </a:lnR>
                    <a:lnT w="9525" cap="flat" cmpd="sng" algn="ctr">
                      <a:solidFill>
                        <a:srgbClr val="D3DBE6"/>
                      </a:solidFill>
                      <a:prstDash val="solid"/>
                      <a:round/>
                      <a:headEnd type="none" w="med" len="med"/>
                      <a:tailEnd type="none" w="med" len="med"/>
                    </a:lnT>
                    <a:lnB w="9525" cap="flat" cmpd="sng" algn="ctr">
                      <a:solidFill>
                        <a:srgbClr val="D3DBE6"/>
                      </a:solidFill>
                      <a:prstDash val="solid"/>
                      <a:round/>
                      <a:headEnd type="none" w="med" len="med"/>
                      <a:tailEnd type="none" w="med" len="med"/>
                    </a:lnB>
                  </a:tcPr>
                </a:tc>
              </a:tr>
              <a:tr h="347472">
                <a:tc>
                  <a:txBody>
                    <a:bodyPr/>
                    <a:lstStyle/>
                    <a:p>
                      <a:pPr indent="0" marL="0">
                        <a:buNone/>
                      </a:pPr>
                      <a:r>
                        <a:rPr lang="en-US" sz="1200" dirty="0">
                          <a:solidFill>
                            <a:srgbClr val="1B2A49"/>
                          </a:solidFill>
                          <a:latin typeface="Calibri" pitchFamily="34" charset="0"/>
                          <a:ea typeface="Calibri" pitchFamily="34" charset="-122"/>
                          <a:cs typeface="Calibri" pitchFamily="34" charset="-120"/>
                        </a:rPr>
                        <a:t>More frames than pages</a:t>
                      </a:r>
                      <a:endParaRPr lang="en-US" sz="1200" dirty="0">
                        <a:latin typeface="Calibri" charset="0"/>
                        <a:ea typeface="Calibri" charset="0"/>
                        <a:cs typeface="Calibri" charset="0"/>
                      </a:endParaRPr>
                    </a:p>
                  </a:txBody>
                  <a:tcPr marL="91440" marR="91440" marT="45720" marB="45720">
                    <a:lnL w="9525" cap="flat" cmpd="sng" algn="ctr">
                      <a:solidFill>
                        <a:srgbClr val="D3DBE6"/>
                      </a:solidFill>
                      <a:prstDash val="solid"/>
                      <a:round/>
                      <a:headEnd type="none" w="med" len="med"/>
                      <a:tailEnd type="none" w="med" len="med"/>
                    </a:lnL>
                    <a:lnR w="9525" cap="flat" cmpd="sng" algn="ctr">
                      <a:solidFill>
                        <a:srgbClr val="D3DBE6"/>
                      </a:solidFill>
                      <a:prstDash val="solid"/>
                      <a:round/>
                      <a:headEnd type="none" w="med" len="med"/>
                      <a:tailEnd type="none" w="med" len="med"/>
                    </a:lnR>
                    <a:lnT w="9525" cap="flat" cmpd="sng" algn="ctr">
                      <a:solidFill>
                        <a:srgbClr val="D3DBE6"/>
                      </a:solidFill>
                      <a:prstDash val="solid"/>
                      <a:round/>
                      <a:headEnd type="none" w="med" len="med"/>
                      <a:tailEnd type="none" w="med" len="med"/>
                    </a:lnT>
                    <a:lnB w="9525" cap="flat" cmpd="sng" algn="ctr">
                      <a:solidFill>
                        <a:srgbClr val="D3DBE6"/>
                      </a:solidFill>
                      <a:prstDash val="solid"/>
                      <a:round/>
                      <a:headEnd type="none" w="med" len="med"/>
                      <a:tailEnd type="none" w="med" len="med"/>
                    </a:lnB>
                  </a:tcPr>
                </a:tc>
                <a:tc>
                  <a:txBody>
                    <a:bodyPr/>
                    <a:lstStyle/>
                    <a:p>
                      <a:pPr indent="0" marL="0">
                        <a:buNone/>
                      </a:pPr>
                      <a:r>
                        <a:rPr lang="en-US" sz="1200" dirty="0">
                          <a:solidFill>
                            <a:srgbClr val="1B2A49"/>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lnL w="9525" cap="flat" cmpd="sng" algn="ctr">
                      <a:solidFill>
                        <a:srgbClr val="D3DBE6"/>
                      </a:solidFill>
                      <a:prstDash val="solid"/>
                      <a:round/>
                      <a:headEnd type="none" w="med" len="med"/>
                      <a:tailEnd type="none" w="med" len="med"/>
                    </a:lnL>
                    <a:lnR w="9525" cap="flat" cmpd="sng" algn="ctr">
                      <a:solidFill>
                        <a:srgbClr val="D3DBE6"/>
                      </a:solidFill>
                      <a:prstDash val="solid"/>
                      <a:round/>
                      <a:headEnd type="none" w="med" len="med"/>
                      <a:tailEnd type="none" w="med" len="med"/>
                    </a:lnR>
                    <a:lnT w="9525" cap="flat" cmpd="sng" algn="ctr">
                      <a:solidFill>
                        <a:srgbClr val="D3DBE6"/>
                      </a:solidFill>
                      <a:prstDash val="solid"/>
                      <a:round/>
                      <a:headEnd type="none" w="med" len="med"/>
                      <a:tailEnd type="none" w="med" len="med"/>
                    </a:lnT>
                    <a:lnB w="9525" cap="flat" cmpd="sng" algn="ctr">
                      <a:solidFill>
                        <a:srgbClr val="D3DBE6"/>
                      </a:solidFill>
                      <a:prstDash val="solid"/>
                      <a:round/>
                      <a:headEnd type="none" w="med" len="med"/>
                      <a:tailEnd type="none" w="med" len="med"/>
                    </a:lnB>
                  </a:tcPr>
                </a:tc>
                <a:tc>
                  <a:txBody>
                    <a:bodyPr/>
                    <a:lstStyle/>
                    <a:p>
                      <a:pPr indent="0" marL="0">
                        <a:buNone/>
                      </a:pPr>
                      <a:r>
                        <a:rPr lang="en-US" sz="1200" dirty="0">
                          <a:solidFill>
                            <a:srgbClr val="1B2A49"/>
                          </a:solidFill>
                          <a:latin typeface="Calibri" pitchFamily="34" charset="0"/>
                          <a:ea typeface="Calibri" pitchFamily="34" charset="-122"/>
                          <a:cs typeface="Calibri" pitchFamily="34" charset="-120"/>
                        </a:rPr>
                        <a:t>3 faults</a:t>
                      </a:r>
                      <a:endParaRPr lang="en-US" sz="1200" dirty="0">
                        <a:latin typeface="Calibri" charset="0"/>
                        <a:ea typeface="Calibri" charset="0"/>
                        <a:cs typeface="Calibri" charset="0"/>
                      </a:endParaRPr>
                    </a:p>
                  </a:txBody>
                  <a:tcPr marL="91440" marR="91440" marT="45720" marB="45720">
                    <a:lnL w="9525" cap="flat" cmpd="sng" algn="ctr">
                      <a:solidFill>
                        <a:srgbClr val="D3DBE6"/>
                      </a:solidFill>
                      <a:prstDash val="solid"/>
                      <a:round/>
                      <a:headEnd type="none" w="med" len="med"/>
                      <a:tailEnd type="none" w="med" len="med"/>
                    </a:lnL>
                    <a:lnR w="9525" cap="flat" cmpd="sng" algn="ctr">
                      <a:solidFill>
                        <a:srgbClr val="D3DBE6"/>
                      </a:solidFill>
                      <a:prstDash val="solid"/>
                      <a:round/>
                      <a:headEnd type="none" w="med" len="med"/>
                      <a:tailEnd type="none" w="med" len="med"/>
                    </a:lnR>
                    <a:lnT w="9525" cap="flat" cmpd="sng" algn="ctr">
                      <a:solidFill>
                        <a:srgbClr val="D3DBE6"/>
                      </a:solidFill>
                      <a:prstDash val="solid"/>
                      <a:round/>
                      <a:headEnd type="none" w="med" len="med"/>
                      <a:tailEnd type="none" w="med" len="med"/>
                    </a:lnT>
                    <a:lnB w="9525" cap="flat" cmpd="sng" algn="ctr">
                      <a:solidFill>
                        <a:srgbClr val="D3DBE6"/>
                      </a:solidFill>
                      <a:prstDash val="solid"/>
                      <a:round/>
                      <a:headEnd type="none" w="med" len="med"/>
                      <a:tailEnd type="none" w="med" len="med"/>
                    </a:lnB>
                  </a:tcPr>
                </a:tc>
              </a:tr>
              <a:tr h="347472">
                <a:tc>
                  <a:txBody>
                    <a:bodyPr/>
                    <a:lstStyle/>
                    <a:p>
                      <a:pPr indent="0" marL="0">
                        <a:buNone/>
                      </a:pPr>
                      <a:r>
                        <a:rPr lang="en-US" sz="1200" dirty="0">
                          <a:solidFill>
                            <a:srgbClr val="1B2A49"/>
                          </a:solidFill>
                          <a:latin typeface="Calibri" pitchFamily="34" charset="0"/>
                          <a:ea typeface="Calibri" pitchFamily="34" charset="-122"/>
                          <a:cs typeface="Calibri" pitchFamily="34" charset="-120"/>
                        </a:rPr>
                        <a:t>No reuse</a:t>
                      </a:r>
                      <a:endParaRPr lang="en-US" sz="1200" dirty="0">
                        <a:latin typeface="Calibri" charset="0"/>
                        <a:ea typeface="Calibri" charset="0"/>
                        <a:cs typeface="Calibri" charset="0"/>
                      </a:endParaRPr>
                    </a:p>
                  </a:txBody>
                  <a:tcPr marL="91440" marR="91440" marT="45720" marB="45720">
                    <a:lnL w="9525" cap="flat" cmpd="sng" algn="ctr">
                      <a:solidFill>
                        <a:srgbClr val="D3DBE6"/>
                      </a:solidFill>
                      <a:prstDash val="solid"/>
                      <a:round/>
                      <a:headEnd type="none" w="med" len="med"/>
                      <a:tailEnd type="none" w="med" len="med"/>
                    </a:lnL>
                    <a:lnR w="9525" cap="flat" cmpd="sng" algn="ctr">
                      <a:solidFill>
                        <a:srgbClr val="D3DBE6"/>
                      </a:solidFill>
                      <a:prstDash val="solid"/>
                      <a:round/>
                      <a:headEnd type="none" w="med" len="med"/>
                      <a:tailEnd type="none" w="med" len="med"/>
                    </a:lnR>
                    <a:lnT w="9525" cap="flat" cmpd="sng" algn="ctr">
                      <a:solidFill>
                        <a:srgbClr val="D3DBE6"/>
                      </a:solidFill>
                      <a:prstDash val="solid"/>
                      <a:round/>
                      <a:headEnd type="none" w="med" len="med"/>
                      <a:tailEnd type="none" w="med" len="med"/>
                    </a:lnT>
                    <a:lnB w="9525" cap="flat" cmpd="sng" algn="ctr">
                      <a:solidFill>
                        <a:srgbClr val="D3DBE6"/>
                      </a:solidFill>
                      <a:prstDash val="solid"/>
                      <a:round/>
                      <a:headEnd type="none" w="med" len="med"/>
                      <a:tailEnd type="none" w="med" len="med"/>
                    </a:lnB>
                  </a:tcPr>
                </a:tc>
                <a:tc>
                  <a:txBody>
                    <a:bodyPr/>
                    <a:lstStyle/>
                    <a:p>
                      <a:pPr indent="0" marL="0">
                        <a:buNone/>
                      </a:pPr>
                      <a:r>
                        <a:rPr lang="en-US" sz="1200" dirty="0">
                          <a:solidFill>
                            <a:srgbClr val="1B2A49"/>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lnL w="9525" cap="flat" cmpd="sng" algn="ctr">
                      <a:solidFill>
                        <a:srgbClr val="D3DBE6"/>
                      </a:solidFill>
                      <a:prstDash val="solid"/>
                      <a:round/>
                      <a:headEnd type="none" w="med" len="med"/>
                      <a:tailEnd type="none" w="med" len="med"/>
                    </a:lnL>
                    <a:lnR w="9525" cap="flat" cmpd="sng" algn="ctr">
                      <a:solidFill>
                        <a:srgbClr val="D3DBE6"/>
                      </a:solidFill>
                      <a:prstDash val="solid"/>
                      <a:round/>
                      <a:headEnd type="none" w="med" len="med"/>
                      <a:tailEnd type="none" w="med" len="med"/>
                    </a:lnR>
                    <a:lnT w="9525" cap="flat" cmpd="sng" algn="ctr">
                      <a:solidFill>
                        <a:srgbClr val="D3DBE6"/>
                      </a:solidFill>
                      <a:prstDash val="solid"/>
                      <a:round/>
                      <a:headEnd type="none" w="med" len="med"/>
                      <a:tailEnd type="none" w="med" len="med"/>
                    </a:lnT>
                    <a:lnB w="9525" cap="flat" cmpd="sng" algn="ctr">
                      <a:solidFill>
                        <a:srgbClr val="D3DBE6"/>
                      </a:solidFill>
                      <a:prstDash val="solid"/>
                      <a:round/>
                      <a:headEnd type="none" w="med" len="med"/>
                      <a:tailEnd type="none" w="med" len="med"/>
                    </a:lnB>
                  </a:tcPr>
                </a:tc>
                <a:tc>
                  <a:txBody>
                    <a:bodyPr/>
                    <a:lstStyle/>
                    <a:p>
                      <a:pPr indent="0" marL="0">
                        <a:buNone/>
                      </a:pPr>
                      <a:r>
                        <a:rPr lang="en-US" sz="1200" dirty="0">
                          <a:solidFill>
                            <a:srgbClr val="1B2A49"/>
                          </a:solidFill>
                          <a:latin typeface="Calibri" pitchFamily="34" charset="0"/>
                          <a:ea typeface="Calibri" pitchFamily="34" charset="-122"/>
                          <a:cs typeface="Calibri" pitchFamily="34" charset="-120"/>
                        </a:rPr>
                        <a:t>6 faults</a:t>
                      </a:r>
                      <a:endParaRPr lang="en-US" sz="1200" dirty="0">
                        <a:latin typeface="Calibri" charset="0"/>
                        <a:ea typeface="Calibri" charset="0"/>
                        <a:cs typeface="Calibri" charset="0"/>
                      </a:endParaRPr>
                    </a:p>
                  </a:txBody>
                  <a:tcPr marL="91440" marR="91440" marT="45720" marB="45720">
                    <a:lnL w="9525" cap="flat" cmpd="sng" algn="ctr">
                      <a:solidFill>
                        <a:srgbClr val="D3DBE6"/>
                      </a:solidFill>
                      <a:prstDash val="solid"/>
                      <a:round/>
                      <a:headEnd type="none" w="med" len="med"/>
                      <a:tailEnd type="none" w="med" len="med"/>
                    </a:lnL>
                    <a:lnR w="9525" cap="flat" cmpd="sng" algn="ctr">
                      <a:solidFill>
                        <a:srgbClr val="D3DBE6"/>
                      </a:solidFill>
                      <a:prstDash val="solid"/>
                      <a:round/>
                      <a:headEnd type="none" w="med" len="med"/>
                      <a:tailEnd type="none" w="med" len="med"/>
                    </a:lnR>
                    <a:lnT w="9525" cap="flat" cmpd="sng" algn="ctr">
                      <a:solidFill>
                        <a:srgbClr val="D3DBE6"/>
                      </a:solidFill>
                      <a:prstDash val="solid"/>
                      <a:round/>
                      <a:headEnd type="none" w="med" len="med"/>
                      <a:tailEnd type="none" w="med" len="med"/>
                    </a:lnT>
                    <a:lnB w="9525" cap="flat" cmpd="sng" algn="ctr">
                      <a:solidFill>
                        <a:srgbClr val="D3DBE6"/>
                      </a:solidFill>
                      <a:prstDash val="solid"/>
                      <a:round/>
                      <a:headEnd type="none" w="med" len="med"/>
                      <a:tailEnd type="none" w="med" len="med"/>
                    </a:lnB>
                  </a:tcPr>
                </a:tc>
              </a:tr>
              <a:tr h="347472">
                <a:tc>
                  <a:txBody>
                    <a:bodyPr/>
                    <a:lstStyle/>
                    <a:p>
                      <a:pPr indent="0" marL="0">
                        <a:buNone/>
                      </a:pPr>
                      <a:r>
                        <a:rPr lang="en-US" sz="1200" dirty="0">
                          <a:solidFill>
                            <a:srgbClr val="1B2A49"/>
                          </a:solidFill>
                          <a:latin typeface="Calibri" pitchFamily="34" charset="0"/>
                          <a:ea typeface="Calibri" pitchFamily="34" charset="-122"/>
                          <a:cs typeface="Calibri" pitchFamily="34" charset="-120"/>
                        </a:rPr>
                        <a:t>Invalid input</a:t>
                      </a:r>
                      <a:endParaRPr lang="en-US" sz="1200" dirty="0">
                        <a:latin typeface="Calibri" charset="0"/>
                        <a:ea typeface="Calibri" charset="0"/>
                        <a:cs typeface="Calibri" charset="0"/>
                      </a:endParaRPr>
                    </a:p>
                  </a:txBody>
                  <a:tcPr marL="91440" marR="91440" marT="45720" marB="45720">
                    <a:lnL w="9525" cap="flat" cmpd="sng" algn="ctr">
                      <a:solidFill>
                        <a:srgbClr val="D3DBE6"/>
                      </a:solidFill>
                      <a:prstDash val="solid"/>
                      <a:round/>
                      <a:headEnd type="none" w="med" len="med"/>
                      <a:tailEnd type="none" w="med" len="med"/>
                    </a:lnL>
                    <a:lnR w="9525" cap="flat" cmpd="sng" algn="ctr">
                      <a:solidFill>
                        <a:srgbClr val="D3DBE6"/>
                      </a:solidFill>
                      <a:prstDash val="solid"/>
                      <a:round/>
                      <a:headEnd type="none" w="med" len="med"/>
                      <a:tailEnd type="none" w="med" len="med"/>
                    </a:lnR>
                    <a:lnT w="9525" cap="flat" cmpd="sng" algn="ctr">
                      <a:solidFill>
                        <a:srgbClr val="D3DBE6"/>
                      </a:solidFill>
                      <a:prstDash val="solid"/>
                      <a:round/>
                      <a:headEnd type="none" w="med" len="med"/>
                      <a:tailEnd type="none" w="med" len="med"/>
                    </a:lnT>
                    <a:lnB w="9525" cap="flat" cmpd="sng" algn="ctr">
                      <a:solidFill>
                        <a:srgbClr val="D3DBE6"/>
                      </a:solidFill>
                      <a:prstDash val="solid"/>
                      <a:round/>
                      <a:headEnd type="none" w="med" len="med"/>
                      <a:tailEnd type="none" w="med" len="med"/>
                    </a:lnB>
                  </a:tcPr>
                </a:tc>
                <a:tc>
                  <a:txBody>
                    <a:bodyPr/>
                    <a:lstStyle/>
                    <a:p>
                      <a:pPr indent="0" marL="0">
                        <a:buNone/>
                      </a:pPr>
                      <a:r>
                        <a:rPr lang="en-US" sz="1200" dirty="0">
                          <a:solidFill>
                            <a:srgbClr val="1B2A4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9525" cap="flat" cmpd="sng" algn="ctr">
                      <a:solidFill>
                        <a:srgbClr val="D3DBE6"/>
                      </a:solidFill>
                      <a:prstDash val="solid"/>
                      <a:round/>
                      <a:headEnd type="none" w="med" len="med"/>
                      <a:tailEnd type="none" w="med" len="med"/>
                    </a:lnL>
                    <a:lnR w="9525" cap="flat" cmpd="sng" algn="ctr">
                      <a:solidFill>
                        <a:srgbClr val="D3DBE6"/>
                      </a:solidFill>
                      <a:prstDash val="solid"/>
                      <a:round/>
                      <a:headEnd type="none" w="med" len="med"/>
                      <a:tailEnd type="none" w="med" len="med"/>
                    </a:lnR>
                    <a:lnT w="9525" cap="flat" cmpd="sng" algn="ctr">
                      <a:solidFill>
                        <a:srgbClr val="D3DBE6"/>
                      </a:solidFill>
                      <a:prstDash val="solid"/>
                      <a:round/>
                      <a:headEnd type="none" w="med" len="med"/>
                      <a:tailEnd type="none" w="med" len="med"/>
                    </a:lnT>
                    <a:lnB w="9525" cap="flat" cmpd="sng" algn="ctr">
                      <a:solidFill>
                        <a:srgbClr val="D3DBE6"/>
                      </a:solidFill>
                      <a:prstDash val="solid"/>
                      <a:round/>
                      <a:headEnd type="none" w="med" len="med"/>
                      <a:tailEnd type="none" w="med" len="med"/>
                    </a:lnB>
                  </a:tcPr>
                </a:tc>
                <a:tc>
                  <a:txBody>
                    <a:bodyPr/>
                    <a:lstStyle/>
                    <a:p>
                      <a:pPr indent="0" marL="0">
                        <a:buNone/>
                      </a:pPr>
                      <a:r>
                        <a:rPr lang="en-US" sz="1200" dirty="0">
                          <a:solidFill>
                            <a:srgbClr val="1B2A49"/>
                          </a:solidFill>
                          <a:latin typeface="Calibri" pitchFamily="34" charset="0"/>
                          <a:ea typeface="Calibri" pitchFamily="34" charset="-122"/>
                          <a:cs typeface="Calibri" pitchFamily="34" charset="-120"/>
                        </a:rPr>
                        <a:t>clear error message</a:t>
                      </a:r>
                      <a:endParaRPr lang="en-US" sz="1200" dirty="0">
                        <a:latin typeface="Calibri" charset="0"/>
                        <a:ea typeface="Calibri" charset="0"/>
                        <a:cs typeface="Calibri" charset="0"/>
                      </a:endParaRPr>
                    </a:p>
                  </a:txBody>
                  <a:tcPr marL="91440" marR="91440" marT="45720" marB="45720">
                    <a:lnL w="9525" cap="flat" cmpd="sng" algn="ctr">
                      <a:solidFill>
                        <a:srgbClr val="D3DBE6"/>
                      </a:solidFill>
                      <a:prstDash val="solid"/>
                      <a:round/>
                      <a:headEnd type="none" w="med" len="med"/>
                      <a:tailEnd type="none" w="med" len="med"/>
                    </a:lnL>
                    <a:lnR w="9525" cap="flat" cmpd="sng" algn="ctr">
                      <a:solidFill>
                        <a:srgbClr val="D3DBE6"/>
                      </a:solidFill>
                      <a:prstDash val="solid"/>
                      <a:round/>
                      <a:headEnd type="none" w="med" len="med"/>
                      <a:tailEnd type="none" w="med" len="med"/>
                    </a:lnR>
                    <a:lnT w="9525" cap="flat" cmpd="sng" algn="ctr">
                      <a:solidFill>
                        <a:srgbClr val="D3DBE6"/>
                      </a:solidFill>
                      <a:prstDash val="solid"/>
                      <a:round/>
                      <a:headEnd type="none" w="med" len="med"/>
                      <a:tailEnd type="none" w="med" len="med"/>
                    </a:lnT>
                    <a:lnB w="9525" cap="flat" cmpd="sng" algn="ctr">
                      <a:solidFill>
                        <a:srgbClr val="D3DBE6"/>
                      </a:solidFill>
                      <a:prstDash val="solid"/>
                      <a:round/>
                      <a:headEnd type="none" w="med" len="med"/>
                      <a:tailEnd type="none" w="med" len="med"/>
                    </a:lnB>
                  </a:tcPr>
                </a:tc>
              </a:tr>
            </a:tbl>
          </a:graphicData>
        </a:graphic>
      </p:graphicFrame>
      <p:sp>
        <p:nvSpPr>
          <p:cNvPr id="5" name="Shape 1"/>
          <p:cNvSpPr/>
          <p:nvPr/>
        </p:nvSpPr>
        <p:spPr>
          <a:xfrm>
            <a:off x="6035040" y="1188720"/>
            <a:ext cx="2651760" cy="2834640"/>
          </a:xfrm>
          <a:prstGeom prst="roundRect">
            <a:avLst>
              <a:gd name="adj" fmla="val 2759"/>
            </a:avLst>
          </a:prstGeom>
          <a:solidFill>
            <a:srgbClr val="EEF3F8"/>
          </a:solidFill>
          <a:ln w="9525">
            <a:solidFill>
              <a:srgbClr val="D3DBE6"/>
            </a:solidFill>
            <a:prstDash val="solid"/>
          </a:ln>
        </p:spPr>
      </p:sp>
      <p:sp>
        <p:nvSpPr>
          <p:cNvPr id="6" name="Text 2"/>
          <p:cNvSpPr txBox="1"/>
          <p:nvPr/>
        </p:nvSpPr>
        <p:spPr>
          <a:xfrm>
            <a:off x="6217920" y="1325880"/>
            <a:ext cx="2286000" cy="731520"/>
          </a:xfrm>
          <a:prstGeom prst="rect">
            <a:avLst/>
          </a:prstGeom>
          <a:noFill/>
          <a:ln/>
        </p:spPr>
        <p:txBody>
          <a:bodyPr wrap="square" lIns="0" tIns="0" rIns="0" bIns="0" rtlCol="0" anchor="t"/>
          <a:lstStyle/>
          <a:p>
            <a:pPr indent="0" marL="0">
              <a:buNone/>
            </a:pPr>
            <a:r>
              <a:rPr lang="en-US" sz="4000" b="1" dirty="0">
                <a:solidFill>
                  <a:srgbClr val="0F8B8D"/>
                </a:solidFill>
                <a:latin typeface="Cambria" pitchFamily="34" charset="0"/>
                <a:ea typeface="Cambria" pitchFamily="34" charset="-122"/>
                <a:cs typeface="Cambria" pitchFamily="34" charset="-120"/>
              </a:rPr>
              <a:t>12,000</a:t>
            </a:r>
            <a:endParaRPr lang="en-US" sz="4000" dirty="0"/>
          </a:p>
        </p:txBody>
      </p:sp>
      <p:sp>
        <p:nvSpPr>
          <p:cNvPr id="7" name="Text 3"/>
          <p:cNvSpPr txBox="1"/>
          <p:nvPr/>
        </p:nvSpPr>
        <p:spPr>
          <a:xfrm>
            <a:off x="6217920" y="2103120"/>
            <a:ext cx="2286000" cy="640080"/>
          </a:xfrm>
          <a:prstGeom prst="rect">
            <a:avLst/>
          </a:prstGeom>
          <a:noFill/>
          <a:ln/>
        </p:spPr>
        <p:txBody>
          <a:bodyPr wrap="square" lIns="0" tIns="0" rIns="0" bIns="0" rtlCol="0" anchor="t"/>
          <a:lstStyle/>
          <a:p>
            <a:pPr indent="0" marL="0">
              <a:buNone/>
            </a:pPr>
            <a:r>
              <a:rPr lang="en-US" sz="1400" dirty="0">
                <a:solidFill>
                  <a:srgbClr val="1B2A49"/>
                </a:solidFill>
                <a:latin typeface="Calibri" pitchFamily="34" charset="0"/>
                <a:ea typeface="Calibri" pitchFamily="34" charset="-122"/>
                <a:cs typeface="Calibri" pitchFamily="34" charset="-120"/>
              </a:rPr>
              <a:t>random runs checked against trace rules</a:t>
            </a:r>
            <a:endParaRPr lang="en-US" sz="1400" dirty="0"/>
          </a:p>
        </p:txBody>
      </p:sp>
      <p:sp>
        <p:nvSpPr>
          <p:cNvPr id="8" name="Text 4"/>
          <p:cNvSpPr txBox="1"/>
          <p:nvPr/>
        </p:nvSpPr>
        <p:spPr>
          <a:xfrm>
            <a:off x="6217920" y="2743200"/>
            <a:ext cx="2286000" cy="548640"/>
          </a:xfrm>
          <a:prstGeom prst="rect">
            <a:avLst/>
          </a:prstGeom>
          <a:noFill/>
          <a:ln/>
        </p:spPr>
        <p:txBody>
          <a:bodyPr wrap="square" lIns="0" tIns="0" rIns="0" bIns="0" rtlCol="0" anchor="t"/>
          <a:lstStyle/>
          <a:p>
            <a:pPr indent="0" marL="0">
              <a:buNone/>
            </a:pPr>
            <a:r>
              <a:rPr lang="en-US" sz="3600" b="1" dirty="0">
                <a:solidFill>
                  <a:srgbClr val="1E8E4E"/>
                </a:solidFill>
                <a:latin typeface="Cambria" pitchFamily="34" charset="0"/>
                <a:ea typeface="Cambria" pitchFamily="34" charset="-122"/>
                <a:cs typeface="Cambria" pitchFamily="34" charset="-120"/>
              </a:rPr>
              <a:t>0</a:t>
            </a:r>
            <a:endParaRPr lang="en-US" sz="3600" dirty="0"/>
          </a:p>
        </p:txBody>
      </p:sp>
      <p:sp>
        <p:nvSpPr>
          <p:cNvPr id="9" name="Text 5"/>
          <p:cNvSpPr txBox="1"/>
          <p:nvPr/>
        </p:nvSpPr>
        <p:spPr>
          <a:xfrm>
            <a:off x="6217920" y="3337560"/>
            <a:ext cx="2286000" cy="365760"/>
          </a:xfrm>
          <a:prstGeom prst="rect">
            <a:avLst/>
          </a:prstGeom>
          <a:noFill/>
          <a:ln/>
        </p:spPr>
        <p:txBody>
          <a:bodyPr wrap="square" lIns="0" tIns="0" rIns="0" bIns="0" rtlCol="0" anchor="t"/>
          <a:lstStyle/>
          <a:p>
            <a:pPr indent="0" marL="0">
              <a:buNone/>
            </a:pPr>
            <a:r>
              <a:rPr lang="en-US" sz="1400" dirty="0">
                <a:solidFill>
                  <a:srgbClr val="1B2A49"/>
                </a:solidFill>
                <a:latin typeface="Calibri" pitchFamily="34" charset="0"/>
                <a:ea typeface="Calibri" pitchFamily="34" charset="-122"/>
                <a:cs typeface="Calibri" pitchFamily="34" charset="-120"/>
              </a:rPr>
              <a:t>violations observed</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D"/>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1B2A49"/>
                </a:solidFill>
              </a:rPr>
              <a:t>Results: textbook string</a:t>
            </a:r>
            <a:endParaRPr lang="en-US" sz="3200" dirty="0"/>
          </a:p>
        </p:txBody>
      </p:sp>
      <p:graphicFrame>
        <p:nvGraphicFramePr>
          <p:cNvPr id="4" name="Chart 0" descr=""/>
          <p:cNvGraphicFramePr/>
          <p:nvPr/>
        </p:nvGraphicFramePr>
        <p:xfrm>
          <a:off x="457200" y="1097280"/>
          <a:ext cx="5120640" cy="347472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5943600" y="1188720"/>
            <a:ext cx="2743200" cy="640080"/>
          </a:xfrm>
          <a:prstGeom prst="roundRect">
            <a:avLst>
              <a:gd name="adj" fmla="val 11429"/>
            </a:avLst>
          </a:prstGeom>
          <a:solidFill>
            <a:srgbClr val="EEF3F8"/>
          </a:solidFill>
          <a:ln w="9525">
            <a:solidFill>
              <a:srgbClr val="D3DBE6"/>
            </a:solidFill>
            <a:prstDash val="solid"/>
          </a:ln>
        </p:spPr>
      </p:sp>
      <p:sp>
        <p:nvSpPr>
          <p:cNvPr id="6" name="Text 2"/>
          <p:cNvSpPr txBox="1"/>
          <p:nvPr/>
        </p:nvSpPr>
        <p:spPr>
          <a:xfrm>
            <a:off x="6126480" y="1188720"/>
            <a:ext cx="1371600" cy="640080"/>
          </a:xfrm>
          <a:prstGeom prst="rect">
            <a:avLst/>
          </a:prstGeom>
          <a:noFill/>
          <a:ln/>
        </p:spPr>
        <p:txBody>
          <a:bodyPr wrap="square" lIns="0" tIns="0" rIns="0" bIns="0" rtlCol="0" anchor="ctr"/>
          <a:lstStyle/>
          <a:p>
            <a:pPr indent="0" marL="0">
              <a:buNone/>
            </a:pPr>
            <a:r>
              <a:rPr lang="en-US" sz="1500" dirty="0">
                <a:solidFill>
                  <a:srgbClr val="1B2A49"/>
                </a:solidFill>
                <a:latin typeface="Calibri" pitchFamily="34" charset="0"/>
                <a:ea typeface="Calibri" pitchFamily="34" charset="-122"/>
                <a:cs typeface="Calibri" pitchFamily="34" charset="-120"/>
              </a:rPr>
              <a:t>FIFO</a:t>
            </a:r>
            <a:endParaRPr lang="en-US" sz="1500" dirty="0"/>
          </a:p>
        </p:txBody>
      </p:sp>
      <p:sp>
        <p:nvSpPr>
          <p:cNvPr id="7" name="Text 3"/>
          <p:cNvSpPr txBox="1"/>
          <p:nvPr/>
        </p:nvSpPr>
        <p:spPr>
          <a:xfrm>
            <a:off x="7315200" y="1188720"/>
            <a:ext cx="1188720" cy="640080"/>
          </a:xfrm>
          <a:prstGeom prst="rect">
            <a:avLst/>
          </a:prstGeom>
          <a:noFill/>
          <a:ln/>
        </p:spPr>
        <p:txBody>
          <a:bodyPr wrap="square" lIns="0" tIns="0" rIns="0" bIns="0" rtlCol="0" anchor="ctr"/>
          <a:lstStyle/>
          <a:p>
            <a:pPr algn="r" indent="0" marL="0">
              <a:buNone/>
            </a:pPr>
            <a:r>
              <a:rPr lang="en-US" sz="2200" b="1" dirty="0">
                <a:solidFill>
                  <a:srgbClr val="0F8B8D"/>
                </a:solidFill>
                <a:latin typeface="Calibri" pitchFamily="34" charset="0"/>
                <a:ea typeface="Calibri" pitchFamily="34" charset="-122"/>
                <a:cs typeface="Calibri" pitchFamily="34" charset="-120"/>
              </a:rPr>
              <a:t>25%</a:t>
            </a:r>
            <a:endParaRPr lang="en-US" sz="2200" dirty="0"/>
          </a:p>
        </p:txBody>
      </p:sp>
      <p:sp>
        <p:nvSpPr>
          <p:cNvPr id="8" name="Shape 4"/>
          <p:cNvSpPr/>
          <p:nvPr/>
        </p:nvSpPr>
        <p:spPr>
          <a:xfrm>
            <a:off x="5943600" y="1965960"/>
            <a:ext cx="2743200" cy="640080"/>
          </a:xfrm>
          <a:prstGeom prst="roundRect">
            <a:avLst>
              <a:gd name="adj" fmla="val 11429"/>
            </a:avLst>
          </a:prstGeom>
          <a:solidFill>
            <a:srgbClr val="EEF3F8"/>
          </a:solidFill>
          <a:ln w="9525">
            <a:solidFill>
              <a:srgbClr val="D3DBE6"/>
            </a:solidFill>
            <a:prstDash val="solid"/>
          </a:ln>
        </p:spPr>
      </p:sp>
      <p:sp>
        <p:nvSpPr>
          <p:cNvPr id="9" name="Text 5"/>
          <p:cNvSpPr txBox="1"/>
          <p:nvPr/>
        </p:nvSpPr>
        <p:spPr>
          <a:xfrm>
            <a:off x="6126480" y="1965960"/>
            <a:ext cx="1371600" cy="640080"/>
          </a:xfrm>
          <a:prstGeom prst="rect">
            <a:avLst/>
          </a:prstGeom>
          <a:noFill/>
          <a:ln/>
        </p:spPr>
        <p:txBody>
          <a:bodyPr wrap="square" lIns="0" tIns="0" rIns="0" bIns="0" rtlCol="0" anchor="ctr"/>
          <a:lstStyle/>
          <a:p>
            <a:pPr indent="0" marL="0">
              <a:buNone/>
            </a:pPr>
            <a:r>
              <a:rPr lang="en-US" sz="1500" dirty="0">
                <a:solidFill>
                  <a:srgbClr val="1B2A49"/>
                </a:solidFill>
                <a:latin typeface="Calibri" pitchFamily="34" charset="0"/>
                <a:ea typeface="Calibri" pitchFamily="34" charset="-122"/>
                <a:cs typeface="Calibri" pitchFamily="34" charset="-120"/>
              </a:rPr>
              <a:t>LRU</a:t>
            </a:r>
            <a:endParaRPr lang="en-US" sz="1500" dirty="0"/>
          </a:p>
        </p:txBody>
      </p:sp>
      <p:sp>
        <p:nvSpPr>
          <p:cNvPr id="10" name="Text 6"/>
          <p:cNvSpPr txBox="1"/>
          <p:nvPr/>
        </p:nvSpPr>
        <p:spPr>
          <a:xfrm>
            <a:off x="7315200" y="1965960"/>
            <a:ext cx="1188720" cy="640080"/>
          </a:xfrm>
          <a:prstGeom prst="rect">
            <a:avLst/>
          </a:prstGeom>
          <a:noFill/>
          <a:ln/>
        </p:spPr>
        <p:txBody>
          <a:bodyPr wrap="square" lIns="0" tIns="0" rIns="0" bIns="0" rtlCol="0" anchor="ctr"/>
          <a:lstStyle/>
          <a:p>
            <a:pPr algn="r" indent="0" marL="0">
              <a:buNone/>
            </a:pPr>
            <a:r>
              <a:rPr lang="en-US" sz="2200" b="1" dirty="0">
                <a:solidFill>
                  <a:srgbClr val="0F8B8D"/>
                </a:solidFill>
                <a:latin typeface="Calibri" pitchFamily="34" charset="0"/>
                <a:ea typeface="Calibri" pitchFamily="34" charset="-122"/>
                <a:cs typeface="Calibri" pitchFamily="34" charset="-120"/>
              </a:rPr>
              <a:t>40%</a:t>
            </a:r>
            <a:endParaRPr lang="en-US" sz="2200" dirty="0"/>
          </a:p>
        </p:txBody>
      </p:sp>
      <p:sp>
        <p:nvSpPr>
          <p:cNvPr id="11" name="Shape 7"/>
          <p:cNvSpPr/>
          <p:nvPr/>
        </p:nvSpPr>
        <p:spPr>
          <a:xfrm>
            <a:off x="5943600" y="2743200"/>
            <a:ext cx="2743200" cy="640080"/>
          </a:xfrm>
          <a:prstGeom prst="roundRect">
            <a:avLst>
              <a:gd name="adj" fmla="val 11429"/>
            </a:avLst>
          </a:prstGeom>
          <a:solidFill>
            <a:srgbClr val="EEF3F8"/>
          </a:solidFill>
          <a:ln w="9525">
            <a:solidFill>
              <a:srgbClr val="D3DBE6"/>
            </a:solidFill>
            <a:prstDash val="solid"/>
          </a:ln>
        </p:spPr>
      </p:sp>
      <p:sp>
        <p:nvSpPr>
          <p:cNvPr id="12" name="Text 8"/>
          <p:cNvSpPr txBox="1"/>
          <p:nvPr/>
        </p:nvSpPr>
        <p:spPr>
          <a:xfrm>
            <a:off x="6126480" y="2743200"/>
            <a:ext cx="1371600" cy="640080"/>
          </a:xfrm>
          <a:prstGeom prst="rect">
            <a:avLst/>
          </a:prstGeom>
          <a:noFill/>
          <a:ln/>
        </p:spPr>
        <p:txBody>
          <a:bodyPr wrap="square" lIns="0" tIns="0" rIns="0" bIns="0" rtlCol="0" anchor="ctr"/>
          <a:lstStyle/>
          <a:p>
            <a:pPr indent="0" marL="0">
              <a:buNone/>
            </a:pPr>
            <a:r>
              <a:rPr lang="en-US" sz="1500" dirty="0">
                <a:solidFill>
                  <a:srgbClr val="1B2A49"/>
                </a:solidFill>
                <a:latin typeface="Calibri" pitchFamily="34" charset="0"/>
                <a:ea typeface="Calibri" pitchFamily="34" charset="-122"/>
                <a:cs typeface="Calibri" pitchFamily="34" charset="-120"/>
              </a:rPr>
              <a:t>Optimal</a:t>
            </a:r>
            <a:endParaRPr lang="en-US" sz="1500" dirty="0"/>
          </a:p>
        </p:txBody>
      </p:sp>
      <p:sp>
        <p:nvSpPr>
          <p:cNvPr id="13" name="Text 9"/>
          <p:cNvSpPr txBox="1"/>
          <p:nvPr/>
        </p:nvSpPr>
        <p:spPr>
          <a:xfrm>
            <a:off x="7315200" y="2743200"/>
            <a:ext cx="1188720" cy="640080"/>
          </a:xfrm>
          <a:prstGeom prst="rect">
            <a:avLst/>
          </a:prstGeom>
          <a:noFill/>
          <a:ln/>
        </p:spPr>
        <p:txBody>
          <a:bodyPr wrap="square" lIns="0" tIns="0" rIns="0" bIns="0" rtlCol="0" anchor="ctr"/>
          <a:lstStyle/>
          <a:p>
            <a:pPr algn="r" indent="0" marL="0">
              <a:buNone/>
            </a:pPr>
            <a:r>
              <a:rPr lang="en-US" sz="2200" b="1" dirty="0">
                <a:solidFill>
                  <a:srgbClr val="0F8B8D"/>
                </a:solidFill>
                <a:latin typeface="Calibri" pitchFamily="34" charset="0"/>
                <a:ea typeface="Calibri" pitchFamily="34" charset="-122"/>
                <a:cs typeface="Calibri" pitchFamily="34" charset="-120"/>
              </a:rPr>
              <a:t>55%</a:t>
            </a:r>
            <a:endParaRPr lang="en-US" sz="2200" dirty="0"/>
          </a:p>
        </p:txBody>
      </p:sp>
      <p:sp>
        <p:nvSpPr>
          <p:cNvPr id="14" name="Shape 10"/>
          <p:cNvSpPr/>
          <p:nvPr/>
        </p:nvSpPr>
        <p:spPr>
          <a:xfrm>
            <a:off x="5943600" y="3520440"/>
            <a:ext cx="2743200" cy="640080"/>
          </a:xfrm>
          <a:prstGeom prst="roundRect">
            <a:avLst>
              <a:gd name="adj" fmla="val 11429"/>
            </a:avLst>
          </a:prstGeom>
          <a:solidFill>
            <a:srgbClr val="EEF3F8"/>
          </a:solidFill>
          <a:ln w="9525">
            <a:solidFill>
              <a:srgbClr val="D3DBE6"/>
            </a:solidFill>
            <a:prstDash val="solid"/>
          </a:ln>
        </p:spPr>
      </p:sp>
      <p:sp>
        <p:nvSpPr>
          <p:cNvPr id="15" name="Text 11"/>
          <p:cNvSpPr txBox="1"/>
          <p:nvPr/>
        </p:nvSpPr>
        <p:spPr>
          <a:xfrm>
            <a:off x="6126480" y="3520440"/>
            <a:ext cx="1371600" cy="640080"/>
          </a:xfrm>
          <a:prstGeom prst="rect">
            <a:avLst/>
          </a:prstGeom>
          <a:noFill/>
          <a:ln/>
        </p:spPr>
        <p:txBody>
          <a:bodyPr wrap="square" lIns="0" tIns="0" rIns="0" bIns="0" rtlCol="0" anchor="ctr"/>
          <a:lstStyle/>
          <a:p>
            <a:pPr indent="0" marL="0">
              <a:buNone/>
            </a:pPr>
            <a:r>
              <a:rPr lang="en-US" sz="1500" dirty="0">
                <a:solidFill>
                  <a:srgbClr val="1B2A49"/>
                </a:solidFill>
                <a:latin typeface="Calibri" pitchFamily="34" charset="0"/>
                <a:ea typeface="Calibri" pitchFamily="34" charset="-122"/>
                <a:cs typeface="Calibri" pitchFamily="34" charset="-120"/>
              </a:rPr>
              <a:t>Clock</a:t>
            </a:r>
            <a:endParaRPr lang="en-US" sz="1500" dirty="0"/>
          </a:p>
        </p:txBody>
      </p:sp>
      <p:sp>
        <p:nvSpPr>
          <p:cNvPr id="16" name="Text 12"/>
          <p:cNvSpPr txBox="1"/>
          <p:nvPr/>
        </p:nvSpPr>
        <p:spPr>
          <a:xfrm>
            <a:off x="7315200" y="3520440"/>
            <a:ext cx="1188720" cy="640080"/>
          </a:xfrm>
          <a:prstGeom prst="rect">
            <a:avLst/>
          </a:prstGeom>
          <a:noFill/>
          <a:ln/>
        </p:spPr>
        <p:txBody>
          <a:bodyPr wrap="square" lIns="0" tIns="0" rIns="0" bIns="0" rtlCol="0" anchor="ctr"/>
          <a:lstStyle/>
          <a:p>
            <a:pPr algn="r" indent="0" marL="0">
              <a:buNone/>
            </a:pPr>
            <a:r>
              <a:rPr lang="en-US" sz="2200" b="1" dirty="0">
                <a:solidFill>
                  <a:srgbClr val="0F8B8D"/>
                </a:solidFill>
                <a:latin typeface="Calibri" pitchFamily="34" charset="0"/>
                <a:ea typeface="Calibri" pitchFamily="34" charset="-122"/>
                <a:cs typeface="Calibri" pitchFamily="34" charset="-120"/>
              </a:rPr>
              <a:t>30%</a:t>
            </a:r>
            <a:endParaRPr lang="en-US" sz="2200" dirty="0"/>
          </a:p>
        </p:txBody>
      </p:sp>
      <p:sp>
        <p:nvSpPr>
          <p:cNvPr id="17" name="Text 13"/>
          <p:cNvSpPr txBox="1"/>
          <p:nvPr/>
        </p:nvSpPr>
        <p:spPr>
          <a:xfrm>
            <a:off x="5943600" y="4343400"/>
            <a:ext cx="2743200" cy="274320"/>
          </a:xfrm>
          <a:prstGeom prst="rect">
            <a:avLst/>
          </a:prstGeom>
          <a:noFill/>
          <a:ln/>
        </p:spPr>
        <p:txBody>
          <a:bodyPr wrap="square" lIns="0" tIns="0" rIns="0" bIns="0" rtlCol="0" anchor="t"/>
          <a:lstStyle/>
          <a:p>
            <a:pPr indent="0" marL="0">
              <a:buNone/>
            </a:pPr>
            <a:r>
              <a:rPr lang="en-US" sz="1200" dirty="0">
                <a:solidFill>
                  <a:srgbClr val="5B6B7D"/>
                </a:solidFill>
                <a:latin typeface="Calibri" pitchFamily="34" charset="0"/>
                <a:ea typeface="Calibri" pitchFamily="34" charset="-122"/>
                <a:cs typeface="Calibri" pitchFamily="34" charset="-120"/>
              </a:rPr>
              <a:t>Hit ratio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D"/>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1B2A49"/>
                </a:solidFill>
              </a:rPr>
              <a:t>Belady's anomaly</a:t>
            </a:r>
            <a:endParaRPr lang="en-US" sz="3200" dirty="0"/>
          </a:p>
        </p:txBody>
      </p:sp>
      <p:graphicFrame>
        <p:nvGraphicFramePr>
          <p:cNvPr id="4" name="Chart 0" descr=""/>
          <p:cNvGraphicFramePr/>
          <p:nvPr/>
        </p:nvGraphicFramePr>
        <p:xfrm>
          <a:off x="457200" y="1097280"/>
          <a:ext cx="5303520" cy="347472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6035040" y="1188720"/>
            <a:ext cx="2651760" cy="3108960"/>
          </a:xfrm>
          <a:prstGeom prst="roundRect">
            <a:avLst>
              <a:gd name="adj" fmla="val 2759"/>
            </a:avLst>
          </a:prstGeom>
          <a:solidFill>
            <a:srgbClr val="EEF3F8"/>
          </a:solidFill>
          <a:ln w="9525">
            <a:solidFill>
              <a:srgbClr val="D3DBE6"/>
            </a:solidFill>
            <a:prstDash val="solid"/>
          </a:ln>
        </p:spPr>
      </p:sp>
      <p:sp>
        <p:nvSpPr>
          <p:cNvPr id="6" name="Text 2"/>
          <p:cNvSpPr txBox="1"/>
          <p:nvPr/>
        </p:nvSpPr>
        <p:spPr>
          <a:xfrm>
            <a:off x="6217920" y="1325880"/>
            <a:ext cx="2286000" cy="2834640"/>
          </a:xfrm>
          <a:prstGeom prst="rect">
            <a:avLst/>
          </a:prstGeom>
          <a:noFill/>
          <a:ln/>
        </p:spPr>
        <p:txBody>
          <a:bodyPr wrap="square" lIns="0" tIns="0" rIns="0" bIns="0" rtlCol="0" anchor="t"/>
          <a:lstStyle/>
          <a:p>
            <a:pPr indent="0" marL="0">
              <a:buNone/>
            </a:pPr>
            <a:r>
              <a:rPr lang="en-US" sz="1400" b="1" dirty="0">
                <a:solidFill>
                  <a:srgbClr val="D64545"/>
                </a:solidFill>
                <a:latin typeface="Calibri" pitchFamily="34" charset="0"/>
                <a:ea typeface="Calibri" pitchFamily="34" charset="-122"/>
                <a:cs typeface="Calibri" pitchFamily="34" charset="-120"/>
              </a:rPr>
              <a:t>FIFO: 9 to 10</a:t>
            </a:r>
            <a:endParaRPr lang="en-US" sz="1400" dirty="0"/>
          </a:p>
          <a:p>
            <a:pPr indent="0" marL="0">
              <a:buNone/>
            </a:pPr>
            <a:r>
              <a:rPr lang="en-US" sz="1400" dirty="0">
                <a:solidFill>
                  <a:srgbClr val="1B2A49"/>
                </a:solidFill>
                <a:latin typeface="Calibri" pitchFamily="34" charset="0"/>
                <a:ea typeface="Calibri" pitchFamily="34" charset="-122"/>
                <a:cs typeface="Calibri" pitchFamily="34" charset="-120"/>
              </a:rPr>
              <a:t>More memory, more faults.</a:t>
            </a:r>
            <a:endParaRPr lang="en-US" sz="1400" dirty="0"/>
          </a:p>
          <a:p>
            <a:pPr indent="0" marL="0">
              <a:buNone/>
            </a:pPr>
            <a:r>
              <a:rPr lang="en-US" sz="1400" dirty="0">
                <a:solidFill>
                  <a:srgbClr val="1B2A49"/>
                </a:solidFill>
                <a:latin typeface="Calibri" pitchFamily="34" charset="0"/>
                <a:ea typeface="Calibri" pitchFamily="34" charset="-122"/>
                <a:cs typeface="Calibri" pitchFamily="34" charset="-120"/>
              </a:rPr>
              <a:t> </a:t>
            </a:r>
            <a:endParaRPr lang="en-US" sz="1400" dirty="0"/>
          </a:p>
          <a:p>
            <a:pPr indent="0" marL="0">
              <a:buNone/>
            </a:pPr>
            <a:r>
              <a:rPr lang="en-US" sz="1400" b="1" dirty="0">
                <a:solidFill>
                  <a:srgbClr val="1E8E4E"/>
                </a:solidFill>
                <a:latin typeface="Calibri" pitchFamily="34" charset="0"/>
                <a:ea typeface="Calibri" pitchFamily="34" charset="-122"/>
                <a:cs typeface="Calibri" pitchFamily="34" charset="-120"/>
              </a:rPr>
              <a:t>LRU and Optimal improve</a:t>
            </a:r>
            <a:endParaRPr lang="en-US" sz="1400" dirty="0"/>
          </a:p>
          <a:p>
            <a:pPr indent="0" marL="0">
              <a:buNone/>
            </a:pPr>
            <a:r>
              <a:rPr lang="en-US" sz="1400" dirty="0">
                <a:solidFill>
                  <a:srgbClr val="1B2A49"/>
                </a:solidFill>
                <a:latin typeface="Calibri" pitchFamily="34" charset="0"/>
                <a:ea typeface="Calibri" pitchFamily="34" charset="-122"/>
                <a:cs typeface="Calibri" pitchFamily="34" charset="-120"/>
              </a:rPr>
              <a:t>They never show the anomaly.</a:t>
            </a:r>
            <a:endParaRPr lang="en-US" sz="1400" dirty="0"/>
          </a:p>
          <a:p>
            <a:pPr indent="0" marL="0">
              <a:buNone/>
            </a:pPr>
            <a:r>
              <a:rPr lang="en-US" sz="1400" dirty="0">
                <a:solidFill>
                  <a:srgbClr val="1B2A49"/>
                </a:solidFill>
                <a:latin typeface="Calibri" pitchFamily="34" charset="0"/>
                <a:ea typeface="Calibri" pitchFamily="34" charset="-122"/>
                <a:cs typeface="Calibri" pitchFamily="34" charset="-120"/>
              </a:rPr>
              <a:t> </a:t>
            </a:r>
            <a:endParaRPr lang="en-US" sz="1400" dirty="0"/>
          </a:p>
          <a:p>
            <a:pPr indent="0" marL="0">
              <a:buNone/>
            </a:pPr>
            <a:r>
              <a:rPr lang="en-US" sz="1400" b="1" dirty="0">
                <a:solidFill>
                  <a:srgbClr val="0F8B8D"/>
                </a:solidFill>
                <a:latin typeface="Calibri" pitchFamily="34" charset="0"/>
                <a:ea typeface="Calibri" pitchFamily="34" charset="-122"/>
                <a:cs typeface="Calibri" pitchFamily="34" charset="-120"/>
              </a:rPr>
              <a:t>Clock: 9 to 10</a:t>
            </a:r>
            <a:endParaRPr lang="en-US" sz="1400" dirty="0"/>
          </a:p>
          <a:p>
            <a:pPr indent="0" marL="0">
              <a:buNone/>
            </a:pPr>
            <a:r>
              <a:rPr lang="en-US" sz="1400" dirty="0">
                <a:solidFill>
                  <a:srgbClr val="1B2A49"/>
                </a:solidFill>
                <a:latin typeface="Calibri" pitchFamily="34" charset="0"/>
                <a:ea typeface="Calibri" pitchFamily="34" charset="-122"/>
                <a:cs typeface="Calibri" pitchFamily="34" charset="-120"/>
              </a:rPr>
              <a:t>Seen in our Clock variant.</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D"/>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1B2A49"/>
                </a:solidFill>
              </a:rPr>
              <a:t>Impact and limits</a:t>
            </a:r>
            <a:endParaRPr lang="en-US" sz="3200" dirty="0"/>
          </a:p>
        </p:txBody>
      </p:sp>
      <p:sp>
        <p:nvSpPr>
          <p:cNvPr id="4" name="Shape 1"/>
          <p:cNvSpPr/>
          <p:nvPr/>
        </p:nvSpPr>
        <p:spPr>
          <a:xfrm>
            <a:off x="457200" y="1188720"/>
            <a:ext cx="4023360" cy="3291840"/>
          </a:xfrm>
          <a:prstGeom prst="roundRect">
            <a:avLst>
              <a:gd name="adj" fmla="val 2222"/>
            </a:avLst>
          </a:prstGeom>
          <a:solidFill>
            <a:srgbClr val="EEF3F8"/>
          </a:solidFill>
          <a:ln w="9525">
            <a:solidFill>
              <a:srgbClr val="D3DBE6"/>
            </a:solidFill>
            <a:prstDash val="solid"/>
          </a:ln>
        </p:spPr>
      </p:sp>
      <p:sp>
        <p:nvSpPr>
          <p:cNvPr id="5" name="Text 2"/>
          <p:cNvSpPr txBox="1"/>
          <p:nvPr/>
        </p:nvSpPr>
        <p:spPr>
          <a:xfrm>
            <a:off x="640080" y="1280160"/>
            <a:ext cx="3657600" cy="365760"/>
          </a:xfrm>
          <a:prstGeom prst="rect">
            <a:avLst/>
          </a:prstGeom>
          <a:noFill/>
          <a:ln/>
        </p:spPr>
        <p:txBody>
          <a:bodyPr wrap="square" lIns="0" tIns="0" rIns="0" bIns="0" rtlCol="0" anchor="t"/>
          <a:lstStyle/>
          <a:p>
            <a:pPr indent="0" marL="0">
              <a:buNone/>
            </a:pPr>
            <a:r>
              <a:rPr lang="en-US" sz="2000" b="1" dirty="0">
                <a:solidFill>
                  <a:srgbClr val="0F8B8D"/>
                </a:solidFill>
                <a:latin typeface="Cambria" pitchFamily="34" charset="0"/>
                <a:ea typeface="Cambria" pitchFamily="34" charset="-122"/>
                <a:cs typeface="Cambria" pitchFamily="34" charset="-120"/>
              </a:rPr>
              <a:t>Impact</a:t>
            </a:r>
            <a:endParaRPr lang="en-US" sz="2000" dirty="0"/>
          </a:p>
        </p:txBody>
      </p:sp>
      <p:sp>
        <p:nvSpPr>
          <p:cNvPr id="6" name="Text 3"/>
          <p:cNvSpPr txBox="1"/>
          <p:nvPr/>
        </p:nvSpPr>
        <p:spPr>
          <a:xfrm>
            <a:off x="640080" y="1783080"/>
            <a:ext cx="3657600" cy="25603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B2A49"/>
                </a:solidFill>
                <a:latin typeface="Calibri" pitchFamily="34" charset="0"/>
                <a:ea typeface="Calibri" pitchFamily="34" charset="-122"/>
                <a:cs typeface="Calibri" pitchFamily="34" charset="-120"/>
              </a:rPr>
              <a:t>Makes a hidden OS decision visible</a:t>
            </a:r>
            <a:endParaRPr lang="en-US" sz="1500" dirty="0"/>
          </a:p>
          <a:p>
            <a:pPr marL="342900" indent="-342900">
              <a:spcAft>
                <a:spcPts val="600"/>
              </a:spcAft>
              <a:buSzPct val="100000"/>
              <a:buChar char="•"/>
            </a:pPr>
            <a:r>
              <a:rPr lang="en-US" sz="1500" dirty="0">
                <a:solidFill>
                  <a:srgbClr val="1B2A49"/>
                </a:solidFill>
                <a:latin typeface="Calibri" pitchFamily="34" charset="0"/>
                <a:ea typeface="Calibri" pitchFamily="34" charset="-122"/>
                <a:cs typeface="Calibri" pitchFamily="34" charset="-120"/>
              </a:rPr>
              <a:t>Helps students check hand-worked answers</a:t>
            </a:r>
            <a:endParaRPr lang="en-US" sz="1500" dirty="0"/>
          </a:p>
          <a:p>
            <a:pPr marL="342900" indent="-342900">
              <a:spcAft>
                <a:spcPts val="600"/>
              </a:spcAft>
              <a:buSzPct val="100000"/>
              <a:buChar char="•"/>
            </a:pPr>
            <a:r>
              <a:rPr lang="en-US" sz="1500" dirty="0">
                <a:solidFill>
                  <a:srgbClr val="1B2A49"/>
                </a:solidFill>
                <a:latin typeface="Calibri" pitchFamily="34" charset="0"/>
                <a:ea typeface="Calibri" pitchFamily="34" charset="-122"/>
                <a:cs typeface="Calibri" pitchFamily="34" charset="-120"/>
              </a:rPr>
              <a:t>Works offline in class or lab</a:t>
            </a:r>
            <a:endParaRPr lang="en-US" sz="1500" dirty="0"/>
          </a:p>
          <a:p>
            <a:pPr marL="342900" indent="-342900">
              <a:spcAft>
                <a:spcPts val="600"/>
              </a:spcAft>
              <a:buSzPct val="100000"/>
              <a:buChar char="•"/>
            </a:pPr>
            <a:r>
              <a:rPr lang="en-US" sz="1500" dirty="0">
                <a:solidFill>
                  <a:srgbClr val="1B2A49"/>
                </a:solidFill>
                <a:latin typeface="Calibri" pitchFamily="34" charset="0"/>
                <a:ea typeface="Calibri" pitchFamily="34" charset="-122"/>
                <a:cs typeface="Calibri" pitchFamily="34" charset="-120"/>
              </a:rPr>
              <a:t>Shows why Optimal is only a benchmark</a:t>
            </a:r>
            <a:endParaRPr lang="en-US" sz="1500" dirty="0"/>
          </a:p>
        </p:txBody>
      </p:sp>
      <p:sp>
        <p:nvSpPr>
          <p:cNvPr id="7" name="Shape 4"/>
          <p:cNvSpPr/>
          <p:nvPr/>
        </p:nvSpPr>
        <p:spPr>
          <a:xfrm>
            <a:off x="4663440" y="1188720"/>
            <a:ext cx="4023360" cy="3291840"/>
          </a:xfrm>
          <a:prstGeom prst="roundRect">
            <a:avLst>
              <a:gd name="adj" fmla="val 2222"/>
            </a:avLst>
          </a:prstGeom>
          <a:solidFill>
            <a:srgbClr val="EEF3F8"/>
          </a:solidFill>
          <a:ln w="9525">
            <a:solidFill>
              <a:srgbClr val="D3DBE6"/>
            </a:solidFill>
            <a:prstDash val="solid"/>
          </a:ln>
        </p:spPr>
      </p:sp>
      <p:sp>
        <p:nvSpPr>
          <p:cNvPr id="8" name="Text 5"/>
          <p:cNvSpPr txBox="1"/>
          <p:nvPr/>
        </p:nvSpPr>
        <p:spPr>
          <a:xfrm>
            <a:off x="4846320" y="1280160"/>
            <a:ext cx="3657600" cy="365760"/>
          </a:xfrm>
          <a:prstGeom prst="rect">
            <a:avLst/>
          </a:prstGeom>
          <a:noFill/>
          <a:ln/>
        </p:spPr>
        <p:txBody>
          <a:bodyPr wrap="square" lIns="0" tIns="0" rIns="0" bIns="0" rtlCol="0" anchor="t"/>
          <a:lstStyle/>
          <a:p>
            <a:pPr indent="0" marL="0">
              <a:buNone/>
            </a:pPr>
            <a:r>
              <a:rPr lang="en-US" sz="2000" b="1" dirty="0">
                <a:solidFill>
                  <a:srgbClr val="D64545"/>
                </a:solidFill>
                <a:latin typeface="Cambria" pitchFamily="34" charset="0"/>
                <a:ea typeface="Cambria" pitchFamily="34" charset="-122"/>
                <a:cs typeface="Cambria" pitchFamily="34" charset="-120"/>
              </a:rPr>
              <a:t>Limits and future scope</a:t>
            </a:r>
            <a:endParaRPr lang="en-US" sz="2000" dirty="0"/>
          </a:p>
        </p:txBody>
      </p:sp>
      <p:sp>
        <p:nvSpPr>
          <p:cNvPr id="9" name="Text 6"/>
          <p:cNvSpPr txBox="1"/>
          <p:nvPr/>
        </p:nvSpPr>
        <p:spPr>
          <a:xfrm>
            <a:off x="4846320" y="1783080"/>
            <a:ext cx="3657600" cy="25603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B2A49"/>
                </a:solidFill>
                <a:latin typeface="Calibri" pitchFamily="34" charset="0"/>
                <a:ea typeface="Calibri" pitchFamily="34" charset="-122"/>
                <a:cs typeface="Calibri" pitchFamily="34" charset="-120"/>
              </a:rPr>
              <a:t>No real page tables, TLB or disk timing</a:t>
            </a:r>
            <a:endParaRPr lang="en-US" sz="1500" dirty="0"/>
          </a:p>
          <a:p>
            <a:pPr marL="342900" indent="-342900">
              <a:spcAft>
                <a:spcPts val="600"/>
              </a:spcAft>
              <a:buSzPct val="100000"/>
              <a:buChar char="•"/>
            </a:pPr>
            <a:r>
              <a:rPr lang="en-US" sz="1500" dirty="0">
                <a:solidFill>
                  <a:srgbClr val="1B2A49"/>
                </a:solidFill>
                <a:latin typeface="Calibri" pitchFamily="34" charset="0"/>
                <a:ea typeface="Calibri" pitchFamily="34" charset="-122"/>
                <a:cs typeface="Calibri" pitchFamily="34" charset="-120"/>
              </a:rPr>
              <a:t>Single process, no page dirty bits</a:t>
            </a:r>
            <a:endParaRPr lang="en-US" sz="1500" dirty="0"/>
          </a:p>
          <a:p>
            <a:pPr marL="342900" indent="-342900">
              <a:spcAft>
                <a:spcPts val="600"/>
              </a:spcAft>
              <a:buSzPct val="100000"/>
              <a:buChar char="•"/>
            </a:pPr>
            <a:r>
              <a:rPr lang="en-US" sz="1500" dirty="0">
                <a:solidFill>
                  <a:srgbClr val="1B2A49"/>
                </a:solidFill>
                <a:latin typeface="Calibri" pitchFamily="34" charset="0"/>
                <a:ea typeface="Calibri" pitchFamily="34" charset="-122"/>
                <a:cs typeface="Calibri" pitchFamily="34" charset="-120"/>
              </a:rPr>
              <a:t>Idea: add a TLB model</a:t>
            </a:r>
            <a:endParaRPr lang="en-US" sz="1500" dirty="0"/>
          </a:p>
          <a:p>
            <a:pPr marL="342900" indent="-342900">
              <a:spcAft>
                <a:spcPts val="600"/>
              </a:spcAft>
              <a:buSzPct val="100000"/>
              <a:buChar char="•"/>
            </a:pPr>
            <a:r>
              <a:rPr lang="en-US" sz="1500" dirty="0">
                <a:solidFill>
                  <a:srgbClr val="1B2A49"/>
                </a:solidFill>
                <a:latin typeface="Calibri" pitchFamily="34" charset="0"/>
                <a:ea typeface="Calibri" pitchFamily="34" charset="-122"/>
                <a:cs typeface="Calibri" pitchFamily="34" charset="-120"/>
              </a:rPr>
              <a:t>Idea: dirty-bit and enhanced Clock</a:t>
            </a:r>
            <a:endParaRPr lang="en-US" sz="1500" dirty="0"/>
          </a:p>
          <a:p>
            <a:pPr marL="342900" indent="-342900">
              <a:spcAft>
                <a:spcPts val="600"/>
              </a:spcAft>
              <a:buSzPct val="100000"/>
              <a:buChar char="•"/>
            </a:pPr>
            <a:r>
              <a:rPr lang="en-US" sz="1500" dirty="0">
                <a:solidFill>
                  <a:srgbClr val="1B2A49"/>
                </a:solidFill>
                <a:latin typeface="Calibri" pitchFamily="34" charset="0"/>
                <a:ea typeface="Calibri" pitchFamily="34" charset="-122"/>
                <a:cs typeface="Calibri" pitchFamily="34" charset="-120"/>
              </a:rPr>
              <a:t>Idea: load strings from a file</a:t>
            </a: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D"/>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1B2A49"/>
                </a:solidFill>
              </a:rPr>
              <a:t>Team and roles</a:t>
            </a:r>
            <a:endParaRPr 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822960"/>
                <a:gridCol w="1737360"/>
                <a:gridCol w="2651760"/>
                <a:gridCol w="301752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Member</a:t>
                      </a:r>
                      <a:endParaRPr lang="en-US" sz="1300" dirty="0">
                        <a:latin typeface="Calibri" charset="0"/>
                        <a:ea typeface="Calibri" charset="0"/>
                        <a:cs typeface="Calibri" charset="0"/>
                      </a:endParaRPr>
                    </a:p>
                  </a:txBody>
                  <a:tcPr marL="91440" marR="91440" marT="45720" marB="45720">
                    <a:lnL w="9525" cap="flat" cmpd="sng" algn="ctr">
                      <a:solidFill>
                        <a:srgbClr val="D3DBE6"/>
                      </a:solidFill>
                      <a:prstDash val="solid"/>
                      <a:round/>
                      <a:headEnd type="none" w="med" len="med"/>
                      <a:tailEnd type="none" w="med" len="med"/>
                    </a:lnL>
                    <a:lnR w="9525" cap="flat" cmpd="sng" algn="ctr">
                      <a:solidFill>
                        <a:srgbClr val="D3DBE6"/>
                      </a:solidFill>
                      <a:prstDash val="solid"/>
                      <a:round/>
                      <a:headEnd type="none" w="med" len="med"/>
                      <a:tailEnd type="none" w="med" len="med"/>
                    </a:lnR>
                    <a:lnT w="9525" cap="flat" cmpd="sng" algn="ctr">
                      <a:solidFill>
                        <a:srgbClr val="D3DBE6"/>
                      </a:solidFill>
                      <a:prstDash val="solid"/>
                      <a:round/>
                      <a:headEnd type="none" w="med" len="med"/>
                      <a:tailEnd type="none" w="med" len="med"/>
                    </a:lnT>
                    <a:lnB w="9525" cap="flat" cmpd="sng" algn="ctr">
                      <a:solidFill>
                        <a:srgbClr val="D3DBE6"/>
                      </a:solidFill>
                      <a:prstDash val="solid"/>
                      <a:round/>
                      <a:headEnd type="none" w="med" len="med"/>
                      <a:tailEnd type="none" w="med" len="med"/>
                    </a:lnB>
                    <a:solidFill>
                      <a:srgbClr val="1B2A49"/>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Name</a:t>
                      </a:r>
                      <a:endParaRPr lang="en-US" sz="1300" dirty="0">
                        <a:latin typeface="Calibri" charset="0"/>
                        <a:ea typeface="Calibri" charset="0"/>
                        <a:cs typeface="Calibri" charset="0"/>
                      </a:endParaRPr>
                    </a:p>
                  </a:txBody>
                  <a:tcPr marL="91440" marR="91440" marT="45720" marB="45720">
                    <a:lnL w="9525" cap="flat" cmpd="sng" algn="ctr">
                      <a:solidFill>
                        <a:srgbClr val="D3DBE6"/>
                      </a:solidFill>
                      <a:prstDash val="solid"/>
                      <a:round/>
                      <a:headEnd type="none" w="med" len="med"/>
                      <a:tailEnd type="none" w="med" len="med"/>
                    </a:lnL>
                    <a:lnR w="9525" cap="flat" cmpd="sng" algn="ctr">
                      <a:solidFill>
                        <a:srgbClr val="D3DBE6"/>
                      </a:solidFill>
                      <a:prstDash val="solid"/>
                      <a:round/>
                      <a:headEnd type="none" w="med" len="med"/>
                      <a:tailEnd type="none" w="med" len="med"/>
                    </a:lnR>
                    <a:lnT w="9525" cap="flat" cmpd="sng" algn="ctr">
                      <a:solidFill>
                        <a:srgbClr val="D3DBE6"/>
                      </a:solidFill>
                      <a:prstDash val="solid"/>
                      <a:round/>
                      <a:headEnd type="none" w="med" len="med"/>
                      <a:tailEnd type="none" w="med" len="med"/>
                    </a:lnT>
                    <a:lnB w="9525" cap="flat" cmpd="sng" algn="ctr">
                      <a:solidFill>
                        <a:srgbClr val="D3DBE6"/>
                      </a:solidFill>
                      <a:prstDash val="solid"/>
                      <a:round/>
                      <a:headEnd type="none" w="med" len="med"/>
                      <a:tailEnd type="none" w="med" len="med"/>
                    </a:lnB>
                    <a:solidFill>
                      <a:srgbClr val="1B2A49"/>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Code part (from team sheet)</a:t>
                      </a:r>
                      <a:endParaRPr lang="en-US" sz="1300" dirty="0">
                        <a:latin typeface="Calibri" charset="0"/>
                        <a:ea typeface="Calibri" charset="0"/>
                        <a:cs typeface="Calibri" charset="0"/>
                      </a:endParaRPr>
                    </a:p>
                  </a:txBody>
                  <a:tcPr marL="91440" marR="91440" marT="45720" marB="45720">
                    <a:lnL w="9525" cap="flat" cmpd="sng" algn="ctr">
                      <a:solidFill>
                        <a:srgbClr val="D3DBE6"/>
                      </a:solidFill>
                      <a:prstDash val="solid"/>
                      <a:round/>
                      <a:headEnd type="none" w="med" len="med"/>
                      <a:tailEnd type="none" w="med" len="med"/>
                    </a:lnL>
                    <a:lnR w="9525" cap="flat" cmpd="sng" algn="ctr">
                      <a:solidFill>
                        <a:srgbClr val="D3DBE6"/>
                      </a:solidFill>
                      <a:prstDash val="solid"/>
                      <a:round/>
                      <a:headEnd type="none" w="med" len="med"/>
                      <a:tailEnd type="none" w="med" len="med"/>
                    </a:lnR>
                    <a:lnT w="9525" cap="flat" cmpd="sng" algn="ctr">
                      <a:solidFill>
                        <a:srgbClr val="D3DBE6"/>
                      </a:solidFill>
                      <a:prstDash val="solid"/>
                      <a:round/>
                      <a:headEnd type="none" w="med" len="med"/>
                      <a:tailEnd type="none" w="med" len="med"/>
                    </a:lnT>
                    <a:lnB w="9525" cap="flat" cmpd="sng" algn="ctr">
                      <a:solidFill>
                        <a:srgbClr val="D3DBE6"/>
                      </a:solidFill>
                      <a:prstDash val="solid"/>
                      <a:round/>
                      <a:headEnd type="none" w="med" len="med"/>
                      <a:tailEnd type="none" w="med" len="med"/>
                    </a:lnB>
                    <a:solidFill>
                      <a:srgbClr val="1B2A49"/>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Documentation / testing</a:t>
                      </a:r>
                      <a:endParaRPr lang="en-US" sz="1300" dirty="0">
                        <a:latin typeface="Calibri" charset="0"/>
                        <a:ea typeface="Calibri" charset="0"/>
                        <a:cs typeface="Calibri" charset="0"/>
                      </a:endParaRPr>
                    </a:p>
                  </a:txBody>
                  <a:tcPr marL="91440" marR="91440" marT="45720" marB="45720">
                    <a:lnL w="9525" cap="flat" cmpd="sng" algn="ctr">
                      <a:solidFill>
                        <a:srgbClr val="D3DBE6"/>
                      </a:solidFill>
                      <a:prstDash val="solid"/>
                      <a:round/>
                      <a:headEnd type="none" w="med" len="med"/>
                      <a:tailEnd type="none" w="med" len="med"/>
                    </a:lnL>
                    <a:lnR w="9525" cap="flat" cmpd="sng" algn="ctr">
                      <a:solidFill>
                        <a:srgbClr val="D3DBE6"/>
                      </a:solidFill>
                      <a:prstDash val="solid"/>
                      <a:round/>
                      <a:headEnd type="none" w="med" len="med"/>
                      <a:tailEnd type="none" w="med" len="med"/>
                    </a:lnR>
                    <a:lnT w="9525" cap="flat" cmpd="sng" algn="ctr">
                      <a:solidFill>
                        <a:srgbClr val="D3DBE6"/>
                      </a:solidFill>
                      <a:prstDash val="solid"/>
                      <a:round/>
                      <a:headEnd type="none" w="med" len="med"/>
                      <a:tailEnd type="none" w="med" len="med"/>
                    </a:lnT>
                    <a:lnB w="9525" cap="flat" cmpd="sng" algn="ctr">
                      <a:solidFill>
                        <a:srgbClr val="D3DBE6"/>
                      </a:solidFill>
                      <a:prstDash val="solid"/>
                      <a:round/>
                      <a:headEnd type="none" w="med" len="med"/>
                      <a:tailEnd type="none" w="med" len="med"/>
                    </a:lnB>
                    <a:solidFill>
                      <a:srgbClr val="1B2A49"/>
                    </a:solidFill>
                  </a:tcPr>
                </a:tc>
              </a:tr>
              <a:tr h="457200">
                <a:tc>
                  <a:txBody>
                    <a:bodyPr/>
                    <a:lstStyle/>
                    <a:p>
                      <a:pPr indent="0" marL="0">
                        <a:buNone/>
                      </a:pPr>
                      <a:r>
                        <a:rPr lang="en-US" sz="1300" dirty="0">
                          <a:solidFill>
                            <a:srgbClr val="1B2A49"/>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lnL w="9525" cap="flat" cmpd="sng" algn="ctr">
                      <a:solidFill>
                        <a:srgbClr val="D3DBE6"/>
                      </a:solidFill>
                      <a:prstDash val="solid"/>
                      <a:round/>
                      <a:headEnd type="none" w="med" len="med"/>
                      <a:tailEnd type="none" w="med" len="med"/>
                    </a:lnL>
                    <a:lnR w="9525" cap="flat" cmpd="sng" algn="ctr">
                      <a:solidFill>
                        <a:srgbClr val="D3DBE6"/>
                      </a:solidFill>
                      <a:prstDash val="solid"/>
                      <a:round/>
                      <a:headEnd type="none" w="med" len="med"/>
                      <a:tailEnd type="none" w="med" len="med"/>
                    </a:lnR>
                    <a:lnT w="9525" cap="flat" cmpd="sng" algn="ctr">
                      <a:solidFill>
                        <a:srgbClr val="D3DBE6"/>
                      </a:solidFill>
                      <a:prstDash val="solid"/>
                      <a:round/>
                      <a:headEnd type="none" w="med" len="med"/>
                      <a:tailEnd type="none" w="med" len="med"/>
                    </a:lnT>
                    <a:lnB w="9525" cap="flat" cmpd="sng" algn="ctr">
                      <a:solidFill>
                        <a:srgbClr val="D3DBE6"/>
                      </a:solidFill>
                      <a:prstDash val="solid"/>
                      <a:round/>
                      <a:headEnd type="none" w="med" len="med"/>
                      <a:tailEnd type="none" w="med" len="med"/>
                    </a:lnB>
                  </a:tcPr>
                </a:tc>
                <a:tc>
                  <a:txBody>
                    <a:bodyPr/>
                    <a:lstStyle/>
                    <a:p>
                      <a:pPr indent="0" marL="0">
                        <a:buNone/>
                      </a:pPr>
                      <a:r>
                        <a:rPr lang="en-US" sz="1300" dirty="0">
                          <a:solidFill>
                            <a:srgbClr val="1B2A49"/>
                          </a:solidFill>
                          <a:latin typeface="Calibri" pitchFamily="34" charset="0"/>
                          <a:ea typeface="Calibri" pitchFamily="34" charset="-122"/>
                          <a:cs typeface="Calibri" pitchFamily="34" charset="-120"/>
                        </a:rPr>
                        <a:t>[TO BE FILLED]</a:t>
                      </a:r>
                      <a:endParaRPr lang="en-US" sz="1300" dirty="0">
                        <a:latin typeface="Calibri" charset="0"/>
                        <a:ea typeface="Calibri" charset="0"/>
                        <a:cs typeface="Calibri" charset="0"/>
                      </a:endParaRPr>
                    </a:p>
                  </a:txBody>
                  <a:tcPr marL="91440" marR="91440" marT="45720" marB="45720">
                    <a:lnL w="9525" cap="flat" cmpd="sng" algn="ctr">
                      <a:solidFill>
                        <a:srgbClr val="D3DBE6"/>
                      </a:solidFill>
                      <a:prstDash val="solid"/>
                      <a:round/>
                      <a:headEnd type="none" w="med" len="med"/>
                      <a:tailEnd type="none" w="med" len="med"/>
                    </a:lnL>
                    <a:lnR w="9525" cap="flat" cmpd="sng" algn="ctr">
                      <a:solidFill>
                        <a:srgbClr val="D3DBE6"/>
                      </a:solidFill>
                      <a:prstDash val="solid"/>
                      <a:round/>
                      <a:headEnd type="none" w="med" len="med"/>
                      <a:tailEnd type="none" w="med" len="med"/>
                    </a:lnR>
                    <a:lnT w="9525" cap="flat" cmpd="sng" algn="ctr">
                      <a:solidFill>
                        <a:srgbClr val="D3DBE6"/>
                      </a:solidFill>
                      <a:prstDash val="solid"/>
                      <a:round/>
                      <a:headEnd type="none" w="med" len="med"/>
                      <a:tailEnd type="none" w="med" len="med"/>
                    </a:lnT>
                    <a:lnB w="9525" cap="flat" cmpd="sng" algn="ctr">
                      <a:solidFill>
                        <a:srgbClr val="D3DBE6"/>
                      </a:solidFill>
                      <a:prstDash val="solid"/>
                      <a:round/>
                      <a:headEnd type="none" w="med" len="med"/>
                      <a:tailEnd type="none" w="med" len="med"/>
                    </a:lnB>
                  </a:tcPr>
                </a:tc>
                <a:tc>
                  <a:txBody>
                    <a:bodyPr/>
                    <a:lstStyle/>
                    <a:p>
                      <a:pPr indent="0" marL="0">
                        <a:buNone/>
                      </a:pPr>
                      <a:r>
                        <a:rPr lang="en-US" sz="1300" dirty="0">
                          <a:solidFill>
                            <a:srgbClr val="1B2A49"/>
                          </a:solidFill>
                          <a:latin typeface="Calibri" pitchFamily="34" charset="0"/>
                          <a:ea typeface="Calibri" pitchFamily="34" charset="-122"/>
                          <a:cs typeface="Calibri" pitchFamily="34" charset="-120"/>
                        </a:rPr>
                        <a:t>FIFO and LRU</a:t>
                      </a:r>
                      <a:endParaRPr lang="en-US" sz="1300" dirty="0">
                        <a:latin typeface="Calibri" charset="0"/>
                        <a:ea typeface="Calibri" charset="0"/>
                        <a:cs typeface="Calibri" charset="0"/>
                      </a:endParaRPr>
                    </a:p>
                  </a:txBody>
                  <a:tcPr marL="91440" marR="91440" marT="45720" marB="45720">
                    <a:lnL w="9525" cap="flat" cmpd="sng" algn="ctr">
                      <a:solidFill>
                        <a:srgbClr val="D3DBE6"/>
                      </a:solidFill>
                      <a:prstDash val="solid"/>
                      <a:round/>
                      <a:headEnd type="none" w="med" len="med"/>
                      <a:tailEnd type="none" w="med" len="med"/>
                    </a:lnL>
                    <a:lnR w="9525" cap="flat" cmpd="sng" algn="ctr">
                      <a:solidFill>
                        <a:srgbClr val="D3DBE6"/>
                      </a:solidFill>
                      <a:prstDash val="solid"/>
                      <a:round/>
                      <a:headEnd type="none" w="med" len="med"/>
                      <a:tailEnd type="none" w="med" len="med"/>
                    </a:lnR>
                    <a:lnT w="9525" cap="flat" cmpd="sng" algn="ctr">
                      <a:solidFill>
                        <a:srgbClr val="D3DBE6"/>
                      </a:solidFill>
                      <a:prstDash val="solid"/>
                      <a:round/>
                      <a:headEnd type="none" w="med" len="med"/>
                      <a:tailEnd type="none" w="med" len="med"/>
                    </a:lnT>
                    <a:lnB w="9525" cap="flat" cmpd="sng" algn="ctr">
                      <a:solidFill>
                        <a:srgbClr val="D3DBE6"/>
                      </a:solidFill>
                      <a:prstDash val="solid"/>
                      <a:round/>
                      <a:headEnd type="none" w="med" len="med"/>
                      <a:tailEnd type="none" w="med" len="med"/>
                    </a:lnB>
                  </a:tcPr>
                </a:tc>
                <a:tc>
                  <a:txBody>
                    <a:bodyPr/>
                    <a:lstStyle/>
                    <a:p>
                      <a:pPr indent="0" marL="0">
                        <a:buNone/>
                      </a:pPr>
                      <a:r>
                        <a:rPr lang="en-US" sz="1300" dirty="0">
                          <a:solidFill>
                            <a:srgbClr val="1B2A49"/>
                          </a:solidFill>
                          <a:latin typeface="Calibri" pitchFamily="34" charset="0"/>
                          <a:ea typeface="Calibri" pitchFamily="34" charset="-122"/>
                          <a:cs typeface="Calibri" pitchFamily="34" charset="-120"/>
                        </a:rPr>
                        <a:t>[tests, report: TO BE CONFIRMED]</a:t>
                      </a:r>
                      <a:endParaRPr lang="en-US" sz="1300" dirty="0">
                        <a:latin typeface="Calibri" charset="0"/>
                        <a:ea typeface="Calibri" charset="0"/>
                        <a:cs typeface="Calibri" charset="0"/>
                      </a:endParaRPr>
                    </a:p>
                  </a:txBody>
                  <a:tcPr marL="91440" marR="91440" marT="45720" marB="45720">
                    <a:lnL w="9525" cap="flat" cmpd="sng" algn="ctr">
                      <a:solidFill>
                        <a:srgbClr val="D3DBE6"/>
                      </a:solidFill>
                      <a:prstDash val="solid"/>
                      <a:round/>
                      <a:headEnd type="none" w="med" len="med"/>
                      <a:tailEnd type="none" w="med" len="med"/>
                    </a:lnL>
                    <a:lnR w="9525" cap="flat" cmpd="sng" algn="ctr">
                      <a:solidFill>
                        <a:srgbClr val="D3DBE6"/>
                      </a:solidFill>
                      <a:prstDash val="solid"/>
                      <a:round/>
                      <a:headEnd type="none" w="med" len="med"/>
                      <a:tailEnd type="none" w="med" len="med"/>
                    </a:lnR>
                    <a:lnT w="9525" cap="flat" cmpd="sng" algn="ctr">
                      <a:solidFill>
                        <a:srgbClr val="D3DBE6"/>
                      </a:solidFill>
                      <a:prstDash val="solid"/>
                      <a:round/>
                      <a:headEnd type="none" w="med" len="med"/>
                      <a:tailEnd type="none" w="med" len="med"/>
                    </a:lnT>
                    <a:lnB w="9525" cap="flat" cmpd="sng" algn="ctr">
                      <a:solidFill>
                        <a:srgbClr val="D3DBE6"/>
                      </a:solidFill>
                      <a:prstDash val="solid"/>
                      <a:round/>
                      <a:headEnd type="none" w="med" len="med"/>
                      <a:tailEnd type="none" w="med" len="med"/>
                    </a:lnB>
                  </a:tcPr>
                </a:tc>
              </a:tr>
              <a:tr h="457200">
                <a:tc>
                  <a:txBody>
                    <a:bodyPr/>
                    <a:lstStyle/>
                    <a:p>
                      <a:pPr indent="0" marL="0">
                        <a:buNone/>
                      </a:pPr>
                      <a:r>
                        <a:rPr lang="en-US" sz="1300" dirty="0">
                          <a:solidFill>
                            <a:srgbClr val="1B2A49"/>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lnL w="9525" cap="flat" cmpd="sng" algn="ctr">
                      <a:solidFill>
                        <a:srgbClr val="D3DBE6"/>
                      </a:solidFill>
                      <a:prstDash val="solid"/>
                      <a:round/>
                      <a:headEnd type="none" w="med" len="med"/>
                      <a:tailEnd type="none" w="med" len="med"/>
                    </a:lnL>
                    <a:lnR w="9525" cap="flat" cmpd="sng" algn="ctr">
                      <a:solidFill>
                        <a:srgbClr val="D3DBE6"/>
                      </a:solidFill>
                      <a:prstDash val="solid"/>
                      <a:round/>
                      <a:headEnd type="none" w="med" len="med"/>
                      <a:tailEnd type="none" w="med" len="med"/>
                    </a:lnR>
                    <a:lnT w="9525" cap="flat" cmpd="sng" algn="ctr">
                      <a:solidFill>
                        <a:srgbClr val="D3DBE6"/>
                      </a:solidFill>
                      <a:prstDash val="solid"/>
                      <a:round/>
                      <a:headEnd type="none" w="med" len="med"/>
                      <a:tailEnd type="none" w="med" len="med"/>
                    </a:lnT>
                    <a:lnB w="9525" cap="flat" cmpd="sng" algn="ctr">
                      <a:solidFill>
                        <a:srgbClr val="D3DBE6"/>
                      </a:solidFill>
                      <a:prstDash val="solid"/>
                      <a:round/>
                      <a:headEnd type="none" w="med" len="med"/>
                      <a:tailEnd type="none" w="med" len="med"/>
                    </a:lnB>
                  </a:tcPr>
                </a:tc>
                <a:tc>
                  <a:txBody>
                    <a:bodyPr/>
                    <a:lstStyle/>
                    <a:p>
                      <a:pPr indent="0" marL="0">
                        <a:buNone/>
                      </a:pPr>
                      <a:r>
                        <a:rPr lang="en-US" sz="1300" dirty="0">
                          <a:solidFill>
                            <a:srgbClr val="1B2A49"/>
                          </a:solidFill>
                          <a:latin typeface="Calibri" pitchFamily="34" charset="0"/>
                          <a:ea typeface="Calibri" pitchFamily="34" charset="-122"/>
                          <a:cs typeface="Calibri" pitchFamily="34" charset="-120"/>
                        </a:rPr>
                        <a:t>[TO BE FILLED]</a:t>
                      </a:r>
                      <a:endParaRPr lang="en-US" sz="1300" dirty="0">
                        <a:latin typeface="Calibri" charset="0"/>
                        <a:ea typeface="Calibri" charset="0"/>
                        <a:cs typeface="Calibri" charset="0"/>
                      </a:endParaRPr>
                    </a:p>
                  </a:txBody>
                  <a:tcPr marL="91440" marR="91440" marT="45720" marB="45720">
                    <a:lnL w="9525" cap="flat" cmpd="sng" algn="ctr">
                      <a:solidFill>
                        <a:srgbClr val="D3DBE6"/>
                      </a:solidFill>
                      <a:prstDash val="solid"/>
                      <a:round/>
                      <a:headEnd type="none" w="med" len="med"/>
                      <a:tailEnd type="none" w="med" len="med"/>
                    </a:lnL>
                    <a:lnR w="9525" cap="flat" cmpd="sng" algn="ctr">
                      <a:solidFill>
                        <a:srgbClr val="D3DBE6"/>
                      </a:solidFill>
                      <a:prstDash val="solid"/>
                      <a:round/>
                      <a:headEnd type="none" w="med" len="med"/>
                      <a:tailEnd type="none" w="med" len="med"/>
                    </a:lnR>
                    <a:lnT w="9525" cap="flat" cmpd="sng" algn="ctr">
                      <a:solidFill>
                        <a:srgbClr val="D3DBE6"/>
                      </a:solidFill>
                      <a:prstDash val="solid"/>
                      <a:round/>
                      <a:headEnd type="none" w="med" len="med"/>
                      <a:tailEnd type="none" w="med" len="med"/>
                    </a:lnT>
                    <a:lnB w="9525" cap="flat" cmpd="sng" algn="ctr">
                      <a:solidFill>
                        <a:srgbClr val="D3DBE6"/>
                      </a:solidFill>
                      <a:prstDash val="solid"/>
                      <a:round/>
                      <a:headEnd type="none" w="med" len="med"/>
                      <a:tailEnd type="none" w="med" len="med"/>
                    </a:lnB>
                  </a:tcPr>
                </a:tc>
                <a:tc>
                  <a:txBody>
                    <a:bodyPr/>
                    <a:lstStyle/>
                    <a:p>
                      <a:pPr indent="0" marL="0">
                        <a:buNone/>
                      </a:pPr>
                      <a:r>
                        <a:rPr lang="en-US" sz="1300" dirty="0">
                          <a:solidFill>
                            <a:srgbClr val="1B2A49"/>
                          </a:solidFill>
                          <a:latin typeface="Calibri" pitchFamily="34" charset="0"/>
                          <a:ea typeface="Calibri" pitchFamily="34" charset="-122"/>
                          <a:cs typeface="Calibri" pitchFamily="34" charset="-120"/>
                        </a:rPr>
                        <a:t>Optimal and Clock</a:t>
                      </a:r>
                      <a:endParaRPr lang="en-US" sz="1300" dirty="0">
                        <a:latin typeface="Calibri" charset="0"/>
                        <a:ea typeface="Calibri" charset="0"/>
                        <a:cs typeface="Calibri" charset="0"/>
                      </a:endParaRPr>
                    </a:p>
                  </a:txBody>
                  <a:tcPr marL="91440" marR="91440" marT="45720" marB="45720">
                    <a:lnL w="9525" cap="flat" cmpd="sng" algn="ctr">
                      <a:solidFill>
                        <a:srgbClr val="D3DBE6"/>
                      </a:solidFill>
                      <a:prstDash val="solid"/>
                      <a:round/>
                      <a:headEnd type="none" w="med" len="med"/>
                      <a:tailEnd type="none" w="med" len="med"/>
                    </a:lnL>
                    <a:lnR w="9525" cap="flat" cmpd="sng" algn="ctr">
                      <a:solidFill>
                        <a:srgbClr val="D3DBE6"/>
                      </a:solidFill>
                      <a:prstDash val="solid"/>
                      <a:round/>
                      <a:headEnd type="none" w="med" len="med"/>
                      <a:tailEnd type="none" w="med" len="med"/>
                    </a:lnR>
                    <a:lnT w="9525" cap="flat" cmpd="sng" algn="ctr">
                      <a:solidFill>
                        <a:srgbClr val="D3DBE6"/>
                      </a:solidFill>
                      <a:prstDash val="solid"/>
                      <a:round/>
                      <a:headEnd type="none" w="med" len="med"/>
                      <a:tailEnd type="none" w="med" len="med"/>
                    </a:lnT>
                    <a:lnB w="9525" cap="flat" cmpd="sng" algn="ctr">
                      <a:solidFill>
                        <a:srgbClr val="D3DBE6"/>
                      </a:solidFill>
                      <a:prstDash val="solid"/>
                      <a:round/>
                      <a:headEnd type="none" w="med" len="med"/>
                      <a:tailEnd type="none" w="med" len="med"/>
                    </a:lnB>
                  </a:tcPr>
                </a:tc>
                <a:tc>
                  <a:txBody>
                    <a:bodyPr/>
                    <a:lstStyle/>
                    <a:p>
                      <a:pPr indent="0" marL="0">
                        <a:buNone/>
                      </a:pPr>
                      <a:r>
                        <a:rPr lang="en-US" sz="1300" dirty="0">
                          <a:solidFill>
                            <a:srgbClr val="1B2A49"/>
                          </a:solidFill>
                          <a:latin typeface="Calibri" pitchFamily="34" charset="0"/>
                          <a:ea typeface="Calibri" pitchFamily="34" charset="-122"/>
                          <a:cs typeface="Calibri" pitchFamily="34" charset="-120"/>
                        </a:rPr>
                        <a:t>[tests, report: TO BE CONFIRMED]</a:t>
                      </a:r>
                      <a:endParaRPr lang="en-US" sz="1300" dirty="0">
                        <a:latin typeface="Calibri" charset="0"/>
                        <a:ea typeface="Calibri" charset="0"/>
                        <a:cs typeface="Calibri" charset="0"/>
                      </a:endParaRPr>
                    </a:p>
                  </a:txBody>
                  <a:tcPr marL="91440" marR="91440" marT="45720" marB="45720">
                    <a:lnL w="9525" cap="flat" cmpd="sng" algn="ctr">
                      <a:solidFill>
                        <a:srgbClr val="D3DBE6"/>
                      </a:solidFill>
                      <a:prstDash val="solid"/>
                      <a:round/>
                      <a:headEnd type="none" w="med" len="med"/>
                      <a:tailEnd type="none" w="med" len="med"/>
                    </a:lnL>
                    <a:lnR w="9525" cap="flat" cmpd="sng" algn="ctr">
                      <a:solidFill>
                        <a:srgbClr val="D3DBE6"/>
                      </a:solidFill>
                      <a:prstDash val="solid"/>
                      <a:round/>
                      <a:headEnd type="none" w="med" len="med"/>
                      <a:tailEnd type="none" w="med" len="med"/>
                    </a:lnR>
                    <a:lnT w="9525" cap="flat" cmpd="sng" algn="ctr">
                      <a:solidFill>
                        <a:srgbClr val="D3DBE6"/>
                      </a:solidFill>
                      <a:prstDash val="solid"/>
                      <a:round/>
                      <a:headEnd type="none" w="med" len="med"/>
                      <a:tailEnd type="none" w="med" len="med"/>
                    </a:lnT>
                    <a:lnB w="9525" cap="flat" cmpd="sng" algn="ctr">
                      <a:solidFill>
                        <a:srgbClr val="D3DBE6"/>
                      </a:solidFill>
                      <a:prstDash val="solid"/>
                      <a:round/>
                      <a:headEnd type="none" w="med" len="med"/>
                      <a:tailEnd type="none" w="med" len="med"/>
                    </a:lnB>
                  </a:tcPr>
                </a:tc>
              </a:tr>
              <a:tr h="457200">
                <a:tc>
                  <a:txBody>
                    <a:bodyPr/>
                    <a:lstStyle/>
                    <a:p>
                      <a:pPr indent="0" marL="0">
                        <a:buNone/>
                      </a:pPr>
                      <a:r>
                        <a:rPr lang="en-US" sz="1300" dirty="0">
                          <a:solidFill>
                            <a:srgbClr val="1B2A49"/>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lnL w="9525" cap="flat" cmpd="sng" algn="ctr">
                      <a:solidFill>
                        <a:srgbClr val="D3DBE6"/>
                      </a:solidFill>
                      <a:prstDash val="solid"/>
                      <a:round/>
                      <a:headEnd type="none" w="med" len="med"/>
                      <a:tailEnd type="none" w="med" len="med"/>
                    </a:lnL>
                    <a:lnR w="9525" cap="flat" cmpd="sng" algn="ctr">
                      <a:solidFill>
                        <a:srgbClr val="D3DBE6"/>
                      </a:solidFill>
                      <a:prstDash val="solid"/>
                      <a:round/>
                      <a:headEnd type="none" w="med" len="med"/>
                      <a:tailEnd type="none" w="med" len="med"/>
                    </a:lnR>
                    <a:lnT w="9525" cap="flat" cmpd="sng" algn="ctr">
                      <a:solidFill>
                        <a:srgbClr val="D3DBE6"/>
                      </a:solidFill>
                      <a:prstDash val="solid"/>
                      <a:round/>
                      <a:headEnd type="none" w="med" len="med"/>
                      <a:tailEnd type="none" w="med" len="med"/>
                    </a:lnT>
                    <a:lnB w="9525" cap="flat" cmpd="sng" algn="ctr">
                      <a:solidFill>
                        <a:srgbClr val="D3DBE6"/>
                      </a:solidFill>
                      <a:prstDash val="solid"/>
                      <a:round/>
                      <a:headEnd type="none" w="med" len="med"/>
                      <a:tailEnd type="none" w="med" len="med"/>
                    </a:lnB>
                  </a:tcPr>
                </a:tc>
                <a:tc>
                  <a:txBody>
                    <a:bodyPr/>
                    <a:lstStyle/>
                    <a:p>
                      <a:pPr indent="0" marL="0">
                        <a:buNone/>
                      </a:pPr>
                      <a:r>
                        <a:rPr lang="en-US" sz="1300" dirty="0">
                          <a:solidFill>
                            <a:srgbClr val="1B2A49"/>
                          </a:solidFill>
                          <a:latin typeface="Calibri" pitchFamily="34" charset="0"/>
                          <a:ea typeface="Calibri" pitchFamily="34" charset="-122"/>
                          <a:cs typeface="Calibri" pitchFamily="34" charset="-120"/>
                        </a:rPr>
                        <a:t>[TO BE FILLED]</a:t>
                      </a:r>
                      <a:endParaRPr lang="en-US" sz="1300" dirty="0">
                        <a:latin typeface="Calibri" charset="0"/>
                        <a:ea typeface="Calibri" charset="0"/>
                        <a:cs typeface="Calibri" charset="0"/>
                      </a:endParaRPr>
                    </a:p>
                  </a:txBody>
                  <a:tcPr marL="91440" marR="91440" marT="45720" marB="45720">
                    <a:lnL w="9525" cap="flat" cmpd="sng" algn="ctr">
                      <a:solidFill>
                        <a:srgbClr val="D3DBE6"/>
                      </a:solidFill>
                      <a:prstDash val="solid"/>
                      <a:round/>
                      <a:headEnd type="none" w="med" len="med"/>
                      <a:tailEnd type="none" w="med" len="med"/>
                    </a:lnL>
                    <a:lnR w="9525" cap="flat" cmpd="sng" algn="ctr">
                      <a:solidFill>
                        <a:srgbClr val="D3DBE6"/>
                      </a:solidFill>
                      <a:prstDash val="solid"/>
                      <a:round/>
                      <a:headEnd type="none" w="med" len="med"/>
                      <a:tailEnd type="none" w="med" len="med"/>
                    </a:lnR>
                    <a:lnT w="9525" cap="flat" cmpd="sng" algn="ctr">
                      <a:solidFill>
                        <a:srgbClr val="D3DBE6"/>
                      </a:solidFill>
                      <a:prstDash val="solid"/>
                      <a:round/>
                      <a:headEnd type="none" w="med" len="med"/>
                      <a:tailEnd type="none" w="med" len="med"/>
                    </a:lnT>
                    <a:lnB w="9525" cap="flat" cmpd="sng" algn="ctr">
                      <a:solidFill>
                        <a:srgbClr val="D3DBE6"/>
                      </a:solidFill>
                      <a:prstDash val="solid"/>
                      <a:round/>
                      <a:headEnd type="none" w="med" len="med"/>
                      <a:tailEnd type="none" w="med" len="med"/>
                    </a:lnB>
                  </a:tcPr>
                </a:tc>
                <a:tc>
                  <a:txBody>
                    <a:bodyPr/>
                    <a:lstStyle/>
                    <a:p>
                      <a:pPr indent="0" marL="0">
                        <a:buNone/>
                      </a:pPr>
                      <a:r>
                        <a:rPr lang="en-US" sz="1300" dirty="0">
                          <a:solidFill>
                            <a:srgbClr val="1B2A49"/>
                          </a:solidFill>
                          <a:latin typeface="Calibri" pitchFamily="34" charset="0"/>
                          <a:ea typeface="Calibri" pitchFamily="34" charset="-122"/>
                          <a:cs typeface="Calibri" pitchFamily="34" charset="-120"/>
                        </a:rPr>
                        <a:t>Visualization and controls</a:t>
                      </a:r>
                      <a:endParaRPr lang="en-US" sz="1300" dirty="0">
                        <a:latin typeface="Calibri" charset="0"/>
                        <a:ea typeface="Calibri" charset="0"/>
                        <a:cs typeface="Calibri" charset="0"/>
                      </a:endParaRPr>
                    </a:p>
                  </a:txBody>
                  <a:tcPr marL="91440" marR="91440" marT="45720" marB="45720">
                    <a:lnL w="9525" cap="flat" cmpd="sng" algn="ctr">
                      <a:solidFill>
                        <a:srgbClr val="D3DBE6"/>
                      </a:solidFill>
                      <a:prstDash val="solid"/>
                      <a:round/>
                      <a:headEnd type="none" w="med" len="med"/>
                      <a:tailEnd type="none" w="med" len="med"/>
                    </a:lnL>
                    <a:lnR w="9525" cap="flat" cmpd="sng" algn="ctr">
                      <a:solidFill>
                        <a:srgbClr val="D3DBE6"/>
                      </a:solidFill>
                      <a:prstDash val="solid"/>
                      <a:round/>
                      <a:headEnd type="none" w="med" len="med"/>
                      <a:tailEnd type="none" w="med" len="med"/>
                    </a:lnR>
                    <a:lnT w="9525" cap="flat" cmpd="sng" algn="ctr">
                      <a:solidFill>
                        <a:srgbClr val="D3DBE6"/>
                      </a:solidFill>
                      <a:prstDash val="solid"/>
                      <a:round/>
                      <a:headEnd type="none" w="med" len="med"/>
                      <a:tailEnd type="none" w="med" len="med"/>
                    </a:lnT>
                    <a:lnB w="9525" cap="flat" cmpd="sng" algn="ctr">
                      <a:solidFill>
                        <a:srgbClr val="D3DBE6"/>
                      </a:solidFill>
                      <a:prstDash val="solid"/>
                      <a:round/>
                      <a:headEnd type="none" w="med" len="med"/>
                      <a:tailEnd type="none" w="med" len="med"/>
                    </a:lnB>
                  </a:tcPr>
                </a:tc>
                <a:tc>
                  <a:txBody>
                    <a:bodyPr/>
                    <a:lstStyle/>
                    <a:p>
                      <a:pPr indent="0" marL="0">
                        <a:buNone/>
                      </a:pPr>
                      <a:r>
                        <a:rPr lang="en-US" sz="1300" dirty="0">
                          <a:solidFill>
                            <a:srgbClr val="1B2A49"/>
                          </a:solidFill>
                          <a:latin typeface="Calibri" pitchFamily="34" charset="0"/>
                          <a:ea typeface="Calibri" pitchFamily="34" charset="-122"/>
                          <a:cs typeface="Calibri" pitchFamily="34" charset="-120"/>
                        </a:rPr>
                        <a:t>[slides, demo: TO BE CONFIRMED]</a:t>
                      </a:r>
                      <a:endParaRPr lang="en-US" sz="1300" dirty="0">
                        <a:latin typeface="Calibri" charset="0"/>
                        <a:ea typeface="Calibri" charset="0"/>
                        <a:cs typeface="Calibri" charset="0"/>
                      </a:endParaRPr>
                    </a:p>
                  </a:txBody>
                  <a:tcPr marL="91440" marR="91440" marT="45720" marB="45720">
                    <a:lnL w="9525" cap="flat" cmpd="sng" algn="ctr">
                      <a:solidFill>
                        <a:srgbClr val="D3DBE6"/>
                      </a:solidFill>
                      <a:prstDash val="solid"/>
                      <a:round/>
                      <a:headEnd type="none" w="med" len="med"/>
                      <a:tailEnd type="none" w="med" len="med"/>
                    </a:lnL>
                    <a:lnR w="9525" cap="flat" cmpd="sng" algn="ctr">
                      <a:solidFill>
                        <a:srgbClr val="D3DBE6"/>
                      </a:solidFill>
                      <a:prstDash val="solid"/>
                      <a:round/>
                      <a:headEnd type="none" w="med" len="med"/>
                      <a:tailEnd type="none" w="med" len="med"/>
                    </a:lnR>
                    <a:lnT w="9525" cap="flat" cmpd="sng" algn="ctr">
                      <a:solidFill>
                        <a:srgbClr val="D3DBE6"/>
                      </a:solidFill>
                      <a:prstDash val="solid"/>
                      <a:round/>
                      <a:headEnd type="none" w="med" len="med"/>
                      <a:tailEnd type="none" w="med" len="med"/>
                    </a:lnT>
                    <a:lnB w="9525" cap="flat" cmpd="sng" algn="ctr">
                      <a:solidFill>
                        <a:srgbClr val="D3DBE6"/>
                      </a:solidFill>
                      <a:prstDash val="solid"/>
                      <a:round/>
                      <a:headEnd type="none" w="med" len="med"/>
                      <a:tailEnd type="none" w="med" len="med"/>
                    </a:lnB>
                  </a:tcPr>
                </a:tc>
              </a:tr>
              <a:tr h="457200">
                <a:tc>
                  <a:txBody>
                    <a:bodyPr/>
                    <a:lstStyle/>
                    <a:p>
                      <a:pPr indent="0" marL="0">
                        <a:buNone/>
                      </a:pPr>
                      <a:r>
                        <a:rPr lang="en-US" sz="1300" dirty="0">
                          <a:solidFill>
                            <a:srgbClr val="1B2A49"/>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lnL w="9525" cap="flat" cmpd="sng" algn="ctr">
                      <a:solidFill>
                        <a:srgbClr val="D3DBE6"/>
                      </a:solidFill>
                      <a:prstDash val="solid"/>
                      <a:round/>
                      <a:headEnd type="none" w="med" len="med"/>
                      <a:tailEnd type="none" w="med" len="med"/>
                    </a:lnL>
                    <a:lnR w="9525" cap="flat" cmpd="sng" algn="ctr">
                      <a:solidFill>
                        <a:srgbClr val="D3DBE6"/>
                      </a:solidFill>
                      <a:prstDash val="solid"/>
                      <a:round/>
                      <a:headEnd type="none" w="med" len="med"/>
                      <a:tailEnd type="none" w="med" len="med"/>
                    </a:lnR>
                    <a:lnT w="9525" cap="flat" cmpd="sng" algn="ctr">
                      <a:solidFill>
                        <a:srgbClr val="D3DBE6"/>
                      </a:solidFill>
                      <a:prstDash val="solid"/>
                      <a:round/>
                      <a:headEnd type="none" w="med" len="med"/>
                      <a:tailEnd type="none" w="med" len="med"/>
                    </a:lnT>
                    <a:lnB w="9525" cap="flat" cmpd="sng" algn="ctr">
                      <a:solidFill>
                        <a:srgbClr val="D3DBE6"/>
                      </a:solidFill>
                      <a:prstDash val="solid"/>
                      <a:round/>
                      <a:headEnd type="none" w="med" len="med"/>
                      <a:tailEnd type="none" w="med" len="med"/>
                    </a:lnB>
                  </a:tcPr>
                </a:tc>
                <a:tc>
                  <a:txBody>
                    <a:bodyPr/>
                    <a:lstStyle/>
                    <a:p>
                      <a:pPr indent="0" marL="0">
                        <a:buNone/>
                      </a:pPr>
                      <a:r>
                        <a:rPr lang="en-US" sz="1300" dirty="0">
                          <a:solidFill>
                            <a:srgbClr val="1B2A49"/>
                          </a:solidFill>
                          <a:latin typeface="Calibri" pitchFamily="34" charset="0"/>
                          <a:ea typeface="Calibri" pitchFamily="34" charset="-122"/>
                          <a:cs typeface="Calibri" pitchFamily="34" charset="-120"/>
                        </a:rPr>
                        <a:t>[TO BE FILLED]</a:t>
                      </a:r>
                      <a:endParaRPr lang="en-US" sz="1300" dirty="0">
                        <a:latin typeface="Calibri" charset="0"/>
                        <a:ea typeface="Calibri" charset="0"/>
                        <a:cs typeface="Calibri" charset="0"/>
                      </a:endParaRPr>
                    </a:p>
                  </a:txBody>
                  <a:tcPr marL="91440" marR="91440" marT="45720" marB="45720">
                    <a:lnL w="9525" cap="flat" cmpd="sng" algn="ctr">
                      <a:solidFill>
                        <a:srgbClr val="D3DBE6"/>
                      </a:solidFill>
                      <a:prstDash val="solid"/>
                      <a:round/>
                      <a:headEnd type="none" w="med" len="med"/>
                      <a:tailEnd type="none" w="med" len="med"/>
                    </a:lnL>
                    <a:lnR w="9525" cap="flat" cmpd="sng" algn="ctr">
                      <a:solidFill>
                        <a:srgbClr val="D3DBE6"/>
                      </a:solidFill>
                      <a:prstDash val="solid"/>
                      <a:round/>
                      <a:headEnd type="none" w="med" len="med"/>
                      <a:tailEnd type="none" w="med" len="med"/>
                    </a:lnR>
                    <a:lnT w="9525" cap="flat" cmpd="sng" algn="ctr">
                      <a:solidFill>
                        <a:srgbClr val="D3DBE6"/>
                      </a:solidFill>
                      <a:prstDash val="solid"/>
                      <a:round/>
                      <a:headEnd type="none" w="med" len="med"/>
                      <a:tailEnd type="none" w="med" len="med"/>
                    </a:lnT>
                    <a:lnB w="9525" cap="flat" cmpd="sng" algn="ctr">
                      <a:solidFill>
                        <a:srgbClr val="D3DBE6"/>
                      </a:solidFill>
                      <a:prstDash val="solid"/>
                      <a:round/>
                      <a:headEnd type="none" w="med" len="med"/>
                      <a:tailEnd type="none" w="med" len="med"/>
                    </a:lnB>
                  </a:tcPr>
                </a:tc>
                <a:tc>
                  <a:txBody>
                    <a:bodyPr/>
                    <a:lstStyle/>
                    <a:p>
                      <a:pPr indent="0" marL="0">
                        <a:buNone/>
                      </a:pPr>
                      <a:r>
                        <a:rPr lang="en-US" sz="1300" dirty="0">
                          <a:solidFill>
                            <a:srgbClr val="1B2A49"/>
                          </a:solidFill>
                          <a:latin typeface="Calibri" pitchFamily="34" charset="0"/>
                          <a:ea typeface="Calibri" pitchFamily="34" charset="-122"/>
                          <a:cs typeface="Calibri" pitchFamily="34" charset="-120"/>
                        </a:rPr>
                        <a:t>Input, statistics, chart</a:t>
                      </a:r>
                      <a:endParaRPr lang="en-US" sz="1300" dirty="0">
                        <a:latin typeface="Calibri" charset="0"/>
                        <a:ea typeface="Calibri" charset="0"/>
                        <a:cs typeface="Calibri" charset="0"/>
                      </a:endParaRPr>
                    </a:p>
                  </a:txBody>
                  <a:tcPr marL="91440" marR="91440" marT="45720" marB="45720">
                    <a:lnL w="9525" cap="flat" cmpd="sng" algn="ctr">
                      <a:solidFill>
                        <a:srgbClr val="D3DBE6"/>
                      </a:solidFill>
                      <a:prstDash val="solid"/>
                      <a:round/>
                      <a:headEnd type="none" w="med" len="med"/>
                      <a:tailEnd type="none" w="med" len="med"/>
                    </a:lnL>
                    <a:lnR w="9525" cap="flat" cmpd="sng" algn="ctr">
                      <a:solidFill>
                        <a:srgbClr val="D3DBE6"/>
                      </a:solidFill>
                      <a:prstDash val="solid"/>
                      <a:round/>
                      <a:headEnd type="none" w="med" len="med"/>
                      <a:tailEnd type="none" w="med" len="med"/>
                    </a:lnR>
                    <a:lnT w="9525" cap="flat" cmpd="sng" algn="ctr">
                      <a:solidFill>
                        <a:srgbClr val="D3DBE6"/>
                      </a:solidFill>
                      <a:prstDash val="solid"/>
                      <a:round/>
                      <a:headEnd type="none" w="med" len="med"/>
                      <a:tailEnd type="none" w="med" len="med"/>
                    </a:lnT>
                    <a:lnB w="9525" cap="flat" cmpd="sng" algn="ctr">
                      <a:solidFill>
                        <a:srgbClr val="D3DBE6"/>
                      </a:solidFill>
                      <a:prstDash val="solid"/>
                      <a:round/>
                      <a:headEnd type="none" w="med" len="med"/>
                      <a:tailEnd type="none" w="med" len="med"/>
                    </a:lnB>
                  </a:tcPr>
                </a:tc>
                <a:tc>
                  <a:txBody>
                    <a:bodyPr/>
                    <a:lstStyle/>
                    <a:p>
                      <a:pPr indent="0" marL="0">
                        <a:buNone/>
                      </a:pPr>
                      <a:r>
                        <a:rPr lang="en-US" sz="1300" dirty="0">
                          <a:solidFill>
                            <a:srgbClr val="1B2A49"/>
                          </a:solidFill>
                          <a:latin typeface="Calibri" pitchFamily="34" charset="0"/>
                          <a:ea typeface="Calibri" pitchFamily="34" charset="-122"/>
                          <a:cs typeface="Calibri" pitchFamily="34" charset="-120"/>
                        </a:rPr>
                        <a:t>[README, results: TO BE CONFIRMED]</a:t>
                      </a:r>
                      <a:endParaRPr lang="en-US" sz="1300" dirty="0">
                        <a:latin typeface="Calibri" charset="0"/>
                        <a:ea typeface="Calibri" charset="0"/>
                        <a:cs typeface="Calibri" charset="0"/>
                      </a:endParaRPr>
                    </a:p>
                  </a:txBody>
                  <a:tcPr marL="91440" marR="91440" marT="45720" marB="45720">
                    <a:lnL w="9525" cap="flat" cmpd="sng" algn="ctr">
                      <a:solidFill>
                        <a:srgbClr val="D3DBE6"/>
                      </a:solidFill>
                      <a:prstDash val="solid"/>
                      <a:round/>
                      <a:headEnd type="none" w="med" len="med"/>
                      <a:tailEnd type="none" w="med" len="med"/>
                    </a:lnL>
                    <a:lnR w="9525" cap="flat" cmpd="sng" algn="ctr">
                      <a:solidFill>
                        <a:srgbClr val="D3DBE6"/>
                      </a:solidFill>
                      <a:prstDash val="solid"/>
                      <a:round/>
                      <a:headEnd type="none" w="med" len="med"/>
                      <a:tailEnd type="none" w="med" len="med"/>
                    </a:lnR>
                    <a:lnT w="9525" cap="flat" cmpd="sng" algn="ctr">
                      <a:solidFill>
                        <a:srgbClr val="D3DBE6"/>
                      </a:solidFill>
                      <a:prstDash val="solid"/>
                      <a:round/>
                      <a:headEnd type="none" w="med" len="med"/>
                      <a:tailEnd type="none" w="med" len="med"/>
                    </a:lnT>
                    <a:lnB w="9525" cap="flat" cmpd="sng" algn="ctr">
                      <a:solidFill>
                        <a:srgbClr val="D3DBE6"/>
                      </a:solidFill>
                      <a:prstDash val="solid"/>
                      <a:round/>
                      <a:headEnd type="none" w="med" len="med"/>
                      <a:tailEnd type="none" w="med" len="med"/>
                    </a:lnB>
                  </a:tcPr>
                </a:tc>
              </a:tr>
            </a:tbl>
          </a:graphicData>
        </a:graphic>
      </p:graphicFrame>
      <p:sp>
        <p:nvSpPr>
          <p:cNvPr id="5" name="Text 1"/>
          <p:cNvSpPr txBox="1"/>
          <p:nvPr/>
        </p:nvSpPr>
        <p:spPr>
          <a:xfrm>
            <a:off x="457200" y="4023360"/>
            <a:ext cx="8229600" cy="457200"/>
          </a:xfrm>
          <a:prstGeom prst="rect">
            <a:avLst/>
          </a:prstGeom>
          <a:noFill/>
          <a:ln/>
        </p:spPr>
        <p:txBody>
          <a:bodyPr wrap="square" lIns="0" tIns="0" rIns="0" bIns="0" rtlCol="0" anchor="t"/>
          <a:lstStyle/>
          <a:p>
            <a:pPr indent="0" marL="0">
              <a:buNone/>
            </a:pPr>
            <a:r>
              <a:rPr lang="en-US" sz="1400" dirty="0">
                <a:solidFill>
                  <a:srgbClr val="5B6B7D"/>
                </a:solidFill>
                <a:latin typeface="Calibri" pitchFamily="34" charset="0"/>
                <a:ea typeface="Calibri" pitchFamily="34" charset="-122"/>
                <a:cs typeface="Calibri" pitchFamily="34" charset="-120"/>
              </a:rPr>
              <a:t>Shared by all four: integration, bug fixing, demo rehearsal, final test with the textbook string.</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D"/>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7863840" cy="822960"/>
          </a:xfrm>
          <a:prstGeom prst="rect">
            <a:avLst/>
          </a:prstGeom>
          <a:noFill/>
          <a:ln/>
        </p:spPr>
        <p:txBody>
          <a:bodyPr wrap="square" lIns="0" tIns="0" rIns="0" bIns="0" rtlCol="0" anchor="ctr"/>
          <a:lstStyle/>
          <a:p>
            <a:pPr algn="l" indent="0" marL="0">
              <a:buNone/>
            </a:pPr>
            <a:r>
              <a:rPr lang="en-US" sz="3400" b="1" dirty="0">
                <a:solidFill>
                  <a:srgbClr val="FFFFFF"/>
                </a:solidFill>
              </a:rPr>
              <a:t>Conclusion and live demo</a:t>
            </a:r>
            <a:endParaRPr lang="en-US" sz="3400" dirty="0"/>
          </a:p>
        </p:txBody>
      </p:sp>
      <p:sp>
        <p:nvSpPr>
          <p:cNvPr id="4" name="Text 1"/>
          <p:cNvSpPr txBox="1"/>
          <p:nvPr/>
        </p:nvSpPr>
        <p:spPr>
          <a:xfrm>
            <a:off x="640080" y="1554480"/>
            <a:ext cx="4023360" cy="27432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FFFFFF"/>
                </a:solidFill>
                <a:latin typeface="Calibri" pitchFamily="34" charset="0"/>
                <a:ea typeface="Calibri" pitchFamily="34" charset="-122"/>
                <a:cs typeface="Calibri" pitchFamily="34" charset="-120"/>
              </a:rPr>
              <a:t>Four algorithms implemented and tested</a:t>
            </a:r>
            <a:endParaRPr lang="en-US" sz="1600" dirty="0"/>
          </a:p>
          <a:p>
            <a:pPr marL="342900" indent="-342900">
              <a:spcAft>
                <a:spcPts val="600"/>
              </a:spcAft>
              <a:buSzPct val="100000"/>
              <a:buChar char="•"/>
            </a:pPr>
            <a:r>
              <a:rPr lang="en-US" sz="1600" dirty="0">
                <a:solidFill>
                  <a:srgbClr val="FFFFFF"/>
                </a:solidFill>
                <a:latin typeface="Calibri" pitchFamily="34" charset="0"/>
                <a:ea typeface="Calibri" pitchFamily="34" charset="-122"/>
                <a:cs typeface="Calibri" pitchFamily="34" charset="-120"/>
              </a:rPr>
              <a:t>Textbook result: FIFO 15, LRU 12, Optimal 9, Clock 14</a:t>
            </a:r>
            <a:endParaRPr lang="en-US" sz="1600" dirty="0"/>
          </a:p>
          <a:p>
            <a:pPr marL="342900" indent="-342900">
              <a:spcAft>
                <a:spcPts val="600"/>
              </a:spcAft>
              <a:buSzPct val="100000"/>
              <a:buChar char="•"/>
            </a:pPr>
            <a:r>
              <a:rPr lang="en-US" sz="1600" dirty="0">
                <a:solidFill>
                  <a:srgbClr val="FFFFFF"/>
                </a:solidFill>
                <a:latin typeface="Calibri" pitchFamily="34" charset="0"/>
                <a:ea typeface="Calibri" pitchFamily="34" charset="-122"/>
                <a:cs typeface="Calibri" pitchFamily="34" charset="-120"/>
              </a:rPr>
              <a:t>Belady's anomaly shown for FIFO and Clock</a:t>
            </a:r>
            <a:endParaRPr lang="en-US" sz="1600" dirty="0"/>
          </a:p>
          <a:p>
            <a:pPr marL="342900" indent="-342900">
              <a:spcAft>
                <a:spcPts val="600"/>
              </a:spcAft>
              <a:buSzPct val="100000"/>
              <a:buChar char="•"/>
            </a:pPr>
            <a:r>
              <a:rPr lang="en-US" sz="1600" dirty="0">
                <a:solidFill>
                  <a:srgbClr val="FFFFFF"/>
                </a:solidFill>
                <a:latin typeface="Calibri" pitchFamily="34" charset="0"/>
                <a:ea typeface="Calibri" pitchFamily="34" charset="-122"/>
                <a:cs typeface="Calibri" pitchFamily="34" charset="-120"/>
              </a:rPr>
              <a:t>Offline, one file, easy to explain</a:t>
            </a:r>
            <a:endParaRPr lang="en-US" sz="1600" dirty="0"/>
          </a:p>
        </p:txBody>
      </p:sp>
      <p:sp>
        <p:nvSpPr>
          <p:cNvPr id="5" name="Text 2"/>
          <p:cNvSpPr txBox="1"/>
          <p:nvPr/>
        </p:nvSpPr>
        <p:spPr>
          <a:xfrm>
            <a:off x="5029200" y="1554480"/>
            <a:ext cx="3657600" cy="365760"/>
          </a:xfrm>
          <a:prstGeom prst="rect">
            <a:avLst/>
          </a:prstGeom>
          <a:noFill/>
          <a:ln/>
        </p:spPr>
        <p:txBody>
          <a:bodyPr wrap="square" lIns="0" tIns="0" rIns="0" bIns="0" rtlCol="0" anchor="t"/>
          <a:lstStyle/>
          <a:p>
            <a:pPr indent="0" marL="0">
              <a:buNone/>
            </a:pPr>
            <a:r>
              <a:rPr lang="en-US" sz="1800" b="1" dirty="0">
                <a:solidFill>
                  <a:srgbClr val="CADCFC"/>
                </a:solidFill>
                <a:latin typeface="Calibri" pitchFamily="34" charset="0"/>
                <a:ea typeface="Calibri" pitchFamily="34" charset="-122"/>
                <a:cs typeface="Calibri" pitchFamily="34" charset="-120"/>
              </a:rPr>
              <a:t>Demo flow</a:t>
            </a:r>
            <a:endParaRPr lang="en-US" sz="1800" dirty="0"/>
          </a:p>
        </p:txBody>
      </p:sp>
      <p:sp>
        <p:nvSpPr>
          <p:cNvPr id="6" name="Text 3"/>
          <p:cNvSpPr txBox="1"/>
          <p:nvPr/>
        </p:nvSpPr>
        <p:spPr>
          <a:xfrm>
            <a:off x="5029200" y="1965960"/>
            <a:ext cx="3657600" cy="2377440"/>
          </a:xfrm>
          <a:prstGeom prst="rect">
            <a:avLst/>
          </a:prstGeom>
          <a:noFill/>
          <a:ln/>
        </p:spPr>
        <p:txBody>
          <a:bodyPr wrap="square" lIns="0" tIns="0" rIns="0" bIns="0" rtlCol="0" anchor="t"/>
          <a:lstStyle/>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1. Open index.html</a:t>
            </a:r>
            <a:endParaRPr lang="en-US" sz="1600" dirty="0"/>
          </a:p>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2. Load example, press Play</a:t>
            </a:r>
            <a:endParaRPr lang="en-US" sz="1600" dirty="0"/>
          </a:p>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3. Switch to Optimal, compare</a:t>
            </a:r>
            <a:endParaRPr lang="en-US" sz="1600" dirty="0"/>
          </a:p>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4. Show the chart</a:t>
            </a:r>
            <a:endParaRPr lang="en-US" sz="1600" dirty="0"/>
          </a:p>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5. Belady demo</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1B2A49"/>
                </a:solidFill>
              </a:rPr>
              <a:t>References</a:t>
            </a:r>
            <a:endParaRPr lang="en-US" sz="3200" dirty="0"/>
          </a:p>
        </p:txBody>
      </p:sp>
      <p:sp>
        <p:nvSpPr>
          <p:cNvPr id="4" name="Text 1"/>
          <p:cNvSpPr txBox="1"/>
          <p:nvPr/>
        </p:nvSpPr>
        <p:spPr>
          <a:xfrm>
            <a:off x="457200" y="1188720"/>
            <a:ext cx="8229600" cy="3383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A49"/>
                </a:solidFill>
                <a:latin typeface="Calibri" pitchFamily="34" charset="0"/>
                <a:ea typeface="Calibri" pitchFamily="34" charset="-122"/>
                <a:cs typeface="Calibri" pitchFamily="34" charset="-120"/>
              </a:rPr>
              <a:t>K L Deemed to be University, Course Handout: Operating Systems and Systems Programming (25CS2104E), 2026-27 Odd Sem.</a:t>
            </a:r>
            <a:endParaRPr lang="en-US" sz="1400" dirty="0"/>
          </a:p>
          <a:p>
            <a:pPr marL="342900" indent="-342900">
              <a:spcAft>
                <a:spcPts val="600"/>
              </a:spcAft>
              <a:buSzPct val="100000"/>
              <a:buChar char="•"/>
            </a:pPr>
            <a:r>
              <a:rPr lang="en-US" sz="1400" dirty="0">
                <a:solidFill>
                  <a:srgbClr val="1B2A49"/>
                </a:solidFill>
                <a:latin typeface="Calibri" pitchFamily="34" charset="0"/>
                <a:ea typeface="Calibri" pitchFamily="34" charset="-122"/>
                <a:cs typeface="Calibri" pitchFamily="34" charset="-120"/>
              </a:rPr>
              <a:t>A. Silberschatz, P. B. Galvin, G. Gagne, Operating System Concepts, Wiley (virtual memory and page replacement).</a:t>
            </a:r>
            <a:endParaRPr lang="en-US" sz="1400" dirty="0"/>
          </a:p>
          <a:p>
            <a:pPr marL="342900" indent="-342900">
              <a:spcAft>
                <a:spcPts val="600"/>
              </a:spcAft>
              <a:buSzPct val="100000"/>
              <a:buChar char="•"/>
            </a:pPr>
            <a:r>
              <a:rPr lang="en-US" sz="1400" dirty="0">
                <a:solidFill>
                  <a:srgbClr val="1B2A49"/>
                </a:solidFill>
                <a:latin typeface="Calibri" pitchFamily="34" charset="0"/>
                <a:ea typeface="Calibri" pitchFamily="34" charset="-122"/>
                <a:cs typeface="Calibri" pitchFamily="34" charset="-120"/>
              </a:rPr>
              <a:t>A. S. Tanenbaum and H. Bos, Modern Operating Systems, Pearson, 2022.</a:t>
            </a:r>
            <a:endParaRPr lang="en-US" sz="1400" dirty="0"/>
          </a:p>
          <a:p>
            <a:pPr marL="342900" indent="-342900">
              <a:spcAft>
                <a:spcPts val="600"/>
              </a:spcAft>
              <a:buSzPct val="100000"/>
              <a:buChar char="•"/>
            </a:pPr>
            <a:r>
              <a:rPr lang="en-US" sz="1400" dirty="0">
                <a:solidFill>
                  <a:srgbClr val="1B2A49"/>
                </a:solidFill>
                <a:latin typeface="Calibri" pitchFamily="34" charset="0"/>
                <a:ea typeface="Calibri" pitchFamily="34" charset="-122"/>
                <a:cs typeface="Calibri" pitchFamily="34" charset="-120"/>
              </a:rPr>
              <a:t>R. H. Arpaci-Dusseau and A. C. Arpaci-Dusseau, Operating Systems: Three Easy Pieces, https://pages.cs.wisc.edu/~remzi/OSTEP/</a:t>
            </a:r>
            <a:endParaRPr lang="en-US" sz="1400" dirty="0"/>
          </a:p>
          <a:p>
            <a:pPr marL="342900" indent="-342900">
              <a:spcAft>
                <a:spcPts val="600"/>
              </a:spcAft>
              <a:buSzPct val="100000"/>
              <a:buChar char="•"/>
            </a:pPr>
            <a:r>
              <a:rPr lang="en-US" sz="1400" dirty="0">
                <a:solidFill>
                  <a:srgbClr val="1B2A49"/>
                </a:solidFill>
                <a:latin typeface="Calibri" pitchFamily="34" charset="0"/>
                <a:ea typeface="Calibri" pitchFamily="34" charset="-122"/>
                <a:cs typeface="Calibri" pitchFamily="34" charset="-120"/>
              </a:rPr>
              <a:t>L. A. Belady, R. A. Nelson, G. S. Shedler, An anomaly in space-time characteristics of certain programs running in a paging machine, Communications of the ACM, 12(6), 1969.</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D"/>
                </a:solidFill>
              </a:defRPr>
            </a:lvl1pPr>
          </a:lstStyle>
          <a:p>
            <a:pPr algn="l"/>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VM Visualizer">
  <a:themeElements>
    <a:clrScheme name="VM Visualizer">
      <a:dk1>
        <a:srgbClr val="1B2A49"/>
      </a:dk1>
      <a:lt1>
        <a:srgbClr val="FFFFFF"/>
      </a:lt1>
      <a:dk2>
        <a:srgbClr val="0F6E70"/>
      </a:dk2>
      <a:lt2>
        <a:srgbClr val="EEF3F8"/>
      </a:lt2>
      <a:accent1>
        <a:srgbClr val="0F8B8D"/>
      </a:accent1>
      <a:accent2>
        <a:srgbClr val="1E8E4E"/>
      </a:accent2>
      <a:accent3>
        <a:srgbClr val="D64545"/>
      </a:accent3>
      <a:accent4>
        <a:srgbClr val="C98A1B"/>
      </a:accent4>
      <a:accent5>
        <a:srgbClr val="5B6B7D"/>
      </a:accent5>
      <a:accent6>
        <a:srgbClr val="3D5A99"/>
      </a:accent6>
      <a:hlink>
        <a:srgbClr val="0F8B8D"/>
      </a:hlink>
      <a:folHlink>
        <a:srgbClr val="5B6B7D"/>
      </a:folHlink>
    </a:clrScheme>
    <a:fontScheme name="VM Visualiz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Virtual Memory Page Replacement Visualizer</dc:title>
  <dc:subject>PptxGenJS Presentation</dc:subject>
  <dc:creator>PptxGenJS</dc:creator>
  <cp:lastModifiedBy>PptxGenJS</cp:lastModifiedBy>
  <cp:revision>1</cp:revision>
  <dcterms:created xsi:type="dcterms:W3CDTF">2026-10-17T04:53:07Z</dcterms:created>
  <dcterms:modified xsi:type="dcterms:W3CDTF">2026-10-17T04:53:07Z</dcterms:modified>
</cp:coreProperties>
</file>